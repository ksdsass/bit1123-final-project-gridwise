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2545"/>
                </a:solidFill>
                <a:latin typeface="Calibri"/>
              </a:defRPr>
            </a:pPr>
            <a:r>
              <a:rPr sz="1400" b="0" i="0" u="none" strike="noStrike">
                <a:solidFill>
                  <a:srgbClr val="0B2545"/>
                </a:solidFill>
                <a:latin typeface="Calibri"/>
              </a:rPr>
              <a:t>Cyberjaya baseline: supply stack vs demand (MW)</a:t>
            </a:r>
          </a:p>
        </c:rich>
      </c:tx>
      <c:layout/>
      <c:overlay val="0"/>
    </c:title>
    <c:autoTitleDeleted val="0"/>
    <c:plotArea>
      <c:layout/>
      <c:barChart>
        <c:barDir val="col"/>
        <c:grouping val="stacked"/>
        <c:varyColors val="0"/>
        <c:ser>
          <c:idx val="0"/>
          <c:order val="0"/>
          <c:tx>
            <c:strRef>
              <c:f>Sheet1!$B$1</c:f>
              <c:strCache>
                <c:ptCount val="1"/>
                <c:pt idx="0">
                  <c:v>Solar</c:v>
                </c:pt>
              </c:strCache>
            </c:strRef>
          </c:tx>
          <c:spPr>
            <a:solidFill>
              <a:srgbClr val="F4A30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Sheet1!$A$2:$A$25</c:f>
              <c:multiLvlStrCache>
                <c:ptCount val="24"/>
                <c:lvl>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lvl>
              </c:multiLvlStrCache>
            </c:multiLvlStrRef>
          </c:cat>
          <c:val>
            <c:numRef>
              <c:f>Sheet1!$B$2:$B$25</c:f>
              <c:numCache>
                <c:formatCode>General</c:formatCode>
                <c:ptCount val="24"/>
                <c:pt idx="0">
                  <c:v>0</c:v>
                </c:pt>
                <c:pt idx="1">
                  <c:v>0</c:v>
                </c:pt>
                <c:pt idx="2">
                  <c:v>0</c:v>
                </c:pt>
                <c:pt idx="3">
                  <c:v>0</c:v>
                </c:pt>
                <c:pt idx="4">
                  <c:v>0</c:v>
                </c:pt>
                <c:pt idx="5">
                  <c:v>0</c:v>
                </c:pt>
                <c:pt idx="6">
                  <c:v>0</c:v>
                </c:pt>
                <c:pt idx="7">
                  <c:v>0</c:v>
                </c:pt>
                <c:pt idx="8">
                  <c:v>21</c:v>
                </c:pt>
                <c:pt idx="9">
                  <c:v>40</c:v>
                </c:pt>
                <c:pt idx="10">
                  <c:v>56</c:v>
                </c:pt>
                <c:pt idx="11">
                  <c:v>69</c:v>
                </c:pt>
                <c:pt idx="12">
                  <c:v>77</c:v>
                </c:pt>
                <c:pt idx="13">
                  <c:v>80</c:v>
                </c:pt>
                <c:pt idx="14">
                  <c:v>77</c:v>
                </c:pt>
                <c:pt idx="15">
                  <c:v>69</c:v>
                </c:pt>
                <c:pt idx="16">
                  <c:v>56</c:v>
                </c:pt>
                <c:pt idx="17">
                  <c:v>40</c:v>
                </c:pt>
                <c:pt idx="18">
                  <c:v>21</c:v>
                </c:pt>
                <c:pt idx="19">
                  <c:v>0</c:v>
                </c:pt>
                <c:pt idx="20">
                  <c:v>0</c:v>
                </c:pt>
                <c:pt idx="21">
                  <c:v>0</c:v>
                </c:pt>
                <c:pt idx="22">
                  <c:v>0</c:v>
                </c:pt>
                <c:pt idx="23">
                  <c:v>0</c:v>
                </c:pt>
              </c:numCache>
            </c:numRef>
          </c:val>
        </c:ser>
        <c:ser>
          <c:idx val="1"/>
          <c:order val="1"/>
          <c:tx>
            <c:strRef>
              <c:f>Sheet1!$C$1</c:f>
              <c:strCache>
                <c:ptCount val="1"/>
                <c:pt idx="0">
                  <c:v>Wind</c:v>
                </c:pt>
              </c:strCache>
            </c:strRef>
          </c:tx>
          <c:spPr>
            <a:solidFill>
              <a:srgbClr val="1B998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Sheet1!$A$2:$A$25</c:f>
              <c:multiLvlStrCache>
                <c:ptCount val="24"/>
                <c:lvl>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lvl>
              </c:multiLvlStrCache>
            </c:multiLvlStrRef>
          </c:cat>
          <c:val>
            <c:numRef>
              <c:f>Sheet1!$C$2:$C$25</c:f>
              <c:numCache>
                <c:formatCode>General</c:formatCode>
                <c:ptCount val="24"/>
                <c:pt idx="0">
                  <c:v>22</c:v>
                </c:pt>
                <c:pt idx="1">
                  <c:v>26</c:v>
                </c:pt>
                <c:pt idx="2">
                  <c:v>15</c:v>
                </c:pt>
                <c:pt idx="3">
                  <c:v>16</c:v>
                </c:pt>
                <c:pt idx="4">
                  <c:v>14</c:v>
                </c:pt>
                <c:pt idx="5">
                  <c:v>12</c:v>
                </c:pt>
                <c:pt idx="6">
                  <c:v>20</c:v>
                </c:pt>
                <c:pt idx="7">
                  <c:v>23</c:v>
                </c:pt>
                <c:pt idx="8">
                  <c:v>16</c:v>
                </c:pt>
                <c:pt idx="9">
                  <c:v>27</c:v>
                </c:pt>
                <c:pt idx="10">
                  <c:v>23</c:v>
                </c:pt>
                <c:pt idx="11">
                  <c:v>13</c:v>
                </c:pt>
                <c:pt idx="12">
                  <c:v>10</c:v>
                </c:pt>
                <c:pt idx="13">
                  <c:v>23</c:v>
                </c:pt>
                <c:pt idx="14">
                  <c:v>11</c:v>
                </c:pt>
                <c:pt idx="15">
                  <c:v>26</c:v>
                </c:pt>
                <c:pt idx="16">
                  <c:v>14</c:v>
                </c:pt>
                <c:pt idx="17">
                  <c:v>29</c:v>
                </c:pt>
                <c:pt idx="18">
                  <c:v>12</c:v>
                </c:pt>
                <c:pt idx="19">
                  <c:v>14</c:v>
                </c:pt>
                <c:pt idx="20">
                  <c:v>14</c:v>
                </c:pt>
                <c:pt idx="21">
                  <c:v>13</c:v>
                </c:pt>
                <c:pt idx="22">
                  <c:v>21</c:v>
                </c:pt>
                <c:pt idx="23">
                  <c:v>27</c:v>
                </c:pt>
              </c:numCache>
            </c:numRef>
          </c:val>
        </c:ser>
        <c:ser>
          <c:idx val="2"/>
          <c:order val="2"/>
          <c:tx>
            <c:strRef>
              <c:f>Sheet1!$D$1</c:f>
              <c:strCache>
                <c:ptCount val="1"/>
                <c:pt idx="0">
                  <c:v>Gas</c:v>
                </c:pt>
              </c:strCache>
            </c:strRef>
          </c:tx>
          <c:spPr>
            <a:solidFill>
              <a:srgbClr val="5A6B7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Sheet1!$A$2:$A$25</c:f>
              <c:multiLvlStrCache>
                <c:ptCount val="24"/>
                <c:lvl>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lvl>
              </c:multiLvlStrCache>
            </c:multiLvlStrRef>
          </c:cat>
          <c:val>
            <c:numRef>
              <c:f>Sheet1!$D$2:$D$25</c:f>
              <c:numCache>
                <c:formatCode>General</c:formatCode>
                <c:ptCount val="24"/>
                <c:pt idx="0">
                  <c:v>44</c:v>
                </c:pt>
                <c:pt idx="1">
                  <c:v>34</c:v>
                </c:pt>
                <c:pt idx="2">
                  <c:v>43</c:v>
                </c:pt>
                <c:pt idx="3">
                  <c:v>40</c:v>
                </c:pt>
                <c:pt idx="4">
                  <c:v>44</c:v>
                </c:pt>
                <c:pt idx="5">
                  <c:v>51</c:v>
                </c:pt>
                <c:pt idx="6">
                  <c:v>55</c:v>
                </c:pt>
                <c:pt idx="7">
                  <c:v>60</c:v>
                </c:pt>
                <c:pt idx="8">
                  <c:v>60</c:v>
                </c:pt>
                <c:pt idx="9">
                  <c:v>41</c:v>
                </c:pt>
                <c:pt idx="10">
                  <c:v>31</c:v>
                </c:pt>
                <c:pt idx="11">
                  <c:v>32</c:v>
                </c:pt>
                <c:pt idx="12">
                  <c:v>29</c:v>
                </c:pt>
                <c:pt idx="13">
                  <c:v>12</c:v>
                </c:pt>
                <c:pt idx="14">
                  <c:v>24</c:v>
                </c:pt>
                <c:pt idx="15">
                  <c:v>13</c:v>
                </c:pt>
                <c:pt idx="16">
                  <c:v>40</c:v>
                </c:pt>
                <c:pt idx="17">
                  <c:v>47</c:v>
                </c:pt>
                <c:pt idx="18">
                  <c:v>60</c:v>
                </c:pt>
                <c:pt idx="19">
                  <c:v>60</c:v>
                </c:pt>
                <c:pt idx="20">
                  <c:v>60</c:v>
                </c:pt>
                <c:pt idx="21">
                  <c:v>60</c:v>
                </c:pt>
                <c:pt idx="22">
                  <c:v>60</c:v>
                </c:pt>
                <c:pt idx="23">
                  <c:v>47</c:v>
                </c:pt>
              </c:numCache>
            </c:numRef>
          </c:val>
        </c:ser>
        <c:ser>
          <c:idx val="3"/>
          <c:order val="3"/>
          <c:tx>
            <c:strRef>
              <c:f>Sheet1!$E$1</c:f>
              <c:strCache>
                <c:ptCount val="1"/>
                <c:pt idx="0">
                  <c:v>Shortfall</c:v>
                </c:pt>
              </c:strCache>
            </c:strRef>
          </c:tx>
          <c:spPr>
            <a:solidFill>
              <a:srgbClr val="C1272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Sheet1!$A$2:$A$25</c:f>
              <c:multiLvlStrCache>
                <c:ptCount val="24"/>
                <c:lvl>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lvl>
              </c:multiLvlStrCache>
            </c:multiLvlStrRef>
          </c:cat>
          <c:val>
            <c:numRef>
              <c:f>Sheet1!$E$2:$E$25</c:f>
              <c:numCache>
                <c:formatCode>General</c:formatCode>
                <c:ptCount val="24"/>
                <c:pt idx="0">
                  <c:v>0</c:v>
                </c:pt>
                <c:pt idx="1">
                  <c:v>0</c:v>
                </c:pt>
                <c:pt idx="2">
                  <c:v>0</c:v>
                </c:pt>
                <c:pt idx="3">
                  <c:v>0</c:v>
                </c:pt>
                <c:pt idx="4">
                  <c:v>0</c:v>
                </c:pt>
                <c:pt idx="5">
                  <c:v>0</c:v>
                </c:pt>
                <c:pt idx="6">
                  <c:v>0</c:v>
                </c:pt>
                <c:pt idx="7">
                  <c:v>7</c:v>
                </c:pt>
                <c:pt idx="8">
                  <c:v>5</c:v>
                </c:pt>
                <c:pt idx="9">
                  <c:v>0</c:v>
                </c:pt>
                <c:pt idx="10">
                  <c:v>0</c:v>
                </c:pt>
                <c:pt idx="11">
                  <c:v>0</c:v>
                </c:pt>
                <c:pt idx="12">
                  <c:v>0</c:v>
                </c:pt>
                <c:pt idx="13">
                  <c:v>0</c:v>
                </c:pt>
                <c:pt idx="14">
                  <c:v>0</c:v>
                </c:pt>
                <c:pt idx="15">
                  <c:v>0</c:v>
                </c:pt>
                <c:pt idx="16">
                  <c:v>0</c:v>
                </c:pt>
                <c:pt idx="17">
                  <c:v>0</c:v>
                </c:pt>
                <c:pt idx="18">
                  <c:v>27</c:v>
                </c:pt>
                <c:pt idx="19">
                  <c:v>43</c:v>
                </c:pt>
                <c:pt idx="20">
                  <c:v>37</c:v>
                </c:pt>
                <c:pt idx="21">
                  <c:v>29</c:v>
                </c:pt>
                <c:pt idx="22">
                  <c:v>6</c:v>
                </c:pt>
                <c:pt idx="23">
                  <c:v>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100"/>
        <c:axId val="2094734554"/>
        <c:axId val="2094734552"/>
        <c:axId val="2094734556"/>
      </c:barChart>
      <c:lineChart>
        <c:varyColors val="0"/>
        <c:ser>
          <c:idx val="4"/>
          <c:order val="4"/>
          <c:tx>
            <c:strRef>
              <c:f>Sheet1!$F$1</c:f>
              <c:strCache>
                <c:ptCount val="1"/>
                <c:pt idx="0">
                  <c:v>Demand</c:v>
                </c:pt>
              </c:strCache>
            </c:strRef>
          </c:tx>
          <c:spPr>
            <a:solidFill>
              <a:srgbClr val="0B2545"/>
            </a:solidFill>
            <a:ln w="38100" cap="flat">
              <a:solidFill>
                <a:srgbClr val="0B254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2545"/>
              </a:solidFill>
              <a:ln w="9525" cap="flat">
                <a:solidFill>
                  <a:srgbClr val="0B2545"/>
                </a:solidFill>
                <a:prstDash val="solid"/>
                <a:round/>
              </a:ln>
              <a:effectLst/>
            </c:spPr>
          </c:marker>
          <c:cat>
            <c:multiLvlStrRef>
              <c:f>Sheet1!$A$2:$A$25</c:f>
              <c:multiLvlStrCache>
                <c:ptCount val="24"/>
                <c:lvl>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lvl>
              </c:multiLvlStrCache>
            </c:multiLvlStrRef>
          </c:cat>
          <c:val>
            <c:numRef>
              <c:f>Sheet1!$F$2:$F$25</c:f>
              <c:numCache>
                <c:formatCode>General</c:formatCode>
                <c:ptCount val="24"/>
                <c:pt idx="0">
                  <c:v>66</c:v>
                </c:pt>
                <c:pt idx="1">
                  <c:v>60</c:v>
                </c:pt>
                <c:pt idx="2">
                  <c:v>58</c:v>
                </c:pt>
                <c:pt idx="3">
                  <c:v>56</c:v>
                </c:pt>
                <c:pt idx="4">
                  <c:v>58</c:v>
                </c:pt>
                <c:pt idx="5">
                  <c:v>62</c:v>
                </c:pt>
                <c:pt idx="6">
                  <c:v>74</c:v>
                </c:pt>
                <c:pt idx="7">
                  <c:v>90</c:v>
                </c:pt>
                <c:pt idx="8">
                  <c:v>102</c:v>
                </c:pt>
                <c:pt idx="9">
                  <c:v>108</c:v>
                </c:pt>
                <c:pt idx="10">
                  <c:v>110</c:v>
                </c:pt>
                <c:pt idx="11">
                  <c:v>114</c:v>
                </c:pt>
                <c:pt idx="12">
                  <c:v>116</c:v>
                </c:pt>
                <c:pt idx="13">
                  <c:v>114</c:v>
                </c:pt>
                <c:pt idx="14">
                  <c:v>112</c:v>
                </c:pt>
                <c:pt idx="15">
                  <c:v>108</c:v>
                </c:pt>
                <c:pt idx="16">
                  <c:v>110</c:v>
                </c:pt>
                <c:pt idx="17">
                  <c:v>115</c:v>
                </c:pt>
                <c:pt idx="18">
                  <c:v>120</c:v>
                </c:pt>
                <c:pt idx="19">
                  <c:v>118</c:v>
                </c:pt>
                <c:pt idx="20">
                  <c:v>112</c:v>
                </c:pt>
                <c:pt idx="21">
                  <c:v>102</c:v>
                </c:pt>
                <c:pt idx="22">
                  <c:v>86</c:v>
                </c:pt>
                <c:pt idx="23">
                  <c:v>74</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A6B7C"/>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3E9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B7C"/>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A6B7C"/>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MEMBERS on stage. Member 1 opens.
0:00-0:20 - Good morning. We are group [NAME]. Our project is GridWise, a Java Swing simulator that lets a city test its electricity mix for one full day before spending a ringgit on it. It supports UN Sustainable Development Goal 7.
Introduce the four members by name in one sentence, then go straight to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1 - 40 seconds. Do NOT read the bullets.
Say: every city is under pressure to add renewables. The problem is that solar and wind cannot be switched on when you need them. Point at bullet 3 - that is the heart of it: the sun sets at 7pm, and 7pm is exactly when everybody gets home and switches everything on. So a plan that looks green on paper can still black out.
Land on the grey box: nobody has a cheap way to test that. That is the gap GridWise fills.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1 - 35 seconds. Read only the five bold headings, then add one clause each.
Emphasise objective 4: this is what makes GridWise a simulation and not a CRUD app - the system makes a judgement about your grid and tells you what to change.
Hand over: 'Member 2 will show you how we built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1 - 35 seconds. Walk the three cards left to right in one sentence each.
Finish on the italic line - if the lecturer asks 'is this just CRUD?', the answer is already on this slide and Member 3 will prove it with the algorithm.
Hand over to Member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2 - 40 seconds.
Say: read the stack bottom-up. model knows physics and nothing else. service holds the algorithms. ui only paints. Because model has zero dependencies we could run the whole 24-hour simulation from a plain main method with no GUI - and we did, to check our numbers.
Do not read the class lists aloud, just point at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2 - 40 seconds. This is the marking-scheme slide, but do not read all seven rows.
Pick three and say them properly: abstraction (EnergySource), polymorphism (one call, four answers), encapsulation (setters reject impossible values). Say the other four are on the slide and in the report.
Finish on the teal line, then switch to the running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2 - 50 seconds of LIVE DEMO. The app must already be running and on the Grid Setup screen before the presentation starts - never compile on stage.
Order of clicks: 1) preset dropdown -&gt; Cyberjaya, 2) Load Example, 3) point at the JTable, 4) type a source into the form and click Add Source, 5) select it and Remove Selected.
Leave the fleet as the clean Cyberjaya preset before handing to Member 3 - the numbers on the results slide depend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3 - 50 seconds. This is the most important slide in the deck.
Say: this chart is one real run of our simulator. The navy line is what the city needs. The stack underneath is what we produced, in merit order - amber solar, teal wind, grey gas.
Then point at the red: after 6pm the sun is gone and the gas plant is already flat out, so the city is short. Seven hours of blackout risk out of 24.
Say the merit order out loud - solar and wind, then hydro, then gas, then shortfall - because that is our polymorphic loop and it is exactly what SDG 7 asks a grid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3 - 50 seconds of LIVE DEMO.
Click Run 24h Simulation. Read the blackout card out loud - it will say roughly 6 to 9 hours. Read the advice line out loud, word for word: that sentence is generated by our SimulationReport class, not typed by us.
Run it a second time so the panel sees the numbers shift, and explain the random wind in one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3 - 50 seconds, and DO THIS LIVE if time allows.
Go back to Grid Setup, add HYDRO / 'Demo Hydro' / 50 MW, return to Simulation, run again. Blackout hours drop to 0, renewable jumps to about 90 percent, cost roughly halves.
If you are behind schedule, skip the clicking and just present these numbers.
The closing point is the italic line: we also tried adding 60 MW of extra solar and it barely helped, because the shortfall is after sunset. That is the insight the tool exists to produce.
Hand over to Member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4 - 50 seconds of LIVE DEMO. Keep it moving, this is the fastest section.
1) Change the currency dropdown to USD and point at the cost card changing. 2) Click the theme toggle - dark mode. 3) Click Export Report, then open simulation_report.txt so the panel sees the file exists. 4) Mention Save to File in one sentence.
If the panel looks impatient, cut the theme toggle - the export is the one that earns marks (file handling).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4 - 35 seconds. Read the three column headings, then one example from each.
The line at the bottom is your closing argument for the SDG 7 marks - say it slowly.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4 - 35 seconds, then STOP and leave this slide up for the whole Q&amp;A.
Do not read both columns. Say: it works, here is what we would build next, and here is the one thing we actually learned - the abstraction line.
Then: 'That is GridWise. We are happy to take your questions.'
During Q&amp;A: whoever owns the section answers. If a question is about the algorithm it is Member 3; about the code structure, Member 2; about scope and SDG 7, Member 1 or Member 4. Never let one person answer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PRESENTED - this slide exists for Q&amp;A.
If a panel member challenges the realism of the numbers, jump here. Owning the limitation before it is pointed out is worth more marks than defending it.
See PRESENTATION_GUIDE.md in the repository for the full list of anticipated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p:bgPr>
    </p:bg>
    <p:spTree>
      <p:nvGrpSpPr>
        <p:cNvPr id="1" name=""/>
        <p:cNvGrpSpPr/>
        <p:nvPr/>
      </p:nvGrpSpPr>
      <p:grpSpPr>
        <a:xfrm>
          <a:off x="0" y="0"/>
          <a:ext cx="0" cy="0"/>
          <a:chOff x="0" y="0"/>
          <a:chExt cx="0" cy="0"/>
        </a:xfrm>
      </p:grpSpPr>
      <p:sp>
        <p:nvSpPr>
          <p:cNvPr id="2" name="Text 0"/>
          <p:cNvSpPr/>
          <p:nvPr/>
        </p:nvSpPr>
        <p:spPr>
          <a:xfrm>
            <a:off x="548640" y="1417320"/>
            <a:ext cx="11094415" cy="1005840"/>
          </a:xfrm>
          <a:prstGeom prst="rect">
            <a:avLst/>
          </a:prstGeom>
          <a:noFill/>
          <a:ln/>
        </p:spPr>
        <p:txBody>
          <a:bodyPr wrap="square" lIns="0" tIns="0" rIns="0" bIns="0" rtlCol="0" anchor="ctr"/>
          <a:lstStyle/>
          <a:p>
            <a:pPr indent="0" marL="0">
              <a:buNone/>
            </a:pPr>
            <a:r>
              <a:rPr lang="en-US" sz="6000" b="1" dirty="0">
                <a:solidFill>
                  <a:srgbClr val="FFFFFF"/>
                </a:solidFill>
                <a:latin typeface="Calibri" pitchFamily="34" charset="0"/>
                <a:ea typeface="Calibri" pitchFamily="34" charset="-122"/>
                <a:cs typeface="Calibri" pitchFamily="34" charset="-120"/>
              </a:rPr>
              <a:t>GridWise</a:t>
            </a:r>
            <a:endParaRPr lang="en-US" sz="6000" dirty="0"/>
          </a:p>
        </p:txBody>
      </p:sp>
      <p:sp>
        <p:nvSpPr>
          <p:cNvPr id="3" name="Text 1"/>
          <p:cNvSpPr/>
          <p:nvPr/>
        </p:nvSpPr>
        <p:spPr>
          <a:xfrm>
            <a:off x="548640" y="2468880"/>
            <a:ext cx="9722815" cy="457200"/>
          </a:xfrm>
          <a:prstGeom prst="rect">
            <a:avLst/>
          </a:prstGeom>
          <a:noFill/>
          <a:ln/>
        </p:spPr>
        <p:txBody>
          <a:bodyPr wrap="square" lIns="0" tIns="0" rIns="0" bIns="0" rtlCol="0" anchor="ctr"/>
          <a:lstStyle/>
          <a:p>
            <a:pPr indent="0" marL="0">
              <a:buNone/>
            </a:pPr>
            <a:r>
              <a:rPr lang="en-US" sz="2200" dirty="0">
                <a:solidFill>
                  <a:srgbClr val="F4A300"/>
                </a:solidFill>
                <a:latin typeface="Calibri" pitchFamily="34" charset="0"/>
                <a:ea typeface="Calibri" pitchFamily="34" charset="-122"/>
                <a:cs typeface="Calibri" pitchFamily="34" charset="-120"/>
              </a:rPr>
              <a:t>A city energy grid simulator for SDG 7: Affordable and Clean Energy</a:t>
            </a:r>
            <a:endParaRPr lang="en-US" sz="2200" dirty="0"/>
          </a:p>
        </p:txBody>
      </p:sp>
      <p:sp>
        <p:nvSpPr>
          <p:cNvPr id="4" name="Text 2"/>
          <p:cNvSpPr/>
          <p:nvPr/>
        </p:nvSpPr>
        <p:spPr>
          <a:xfrm>
            <a:off x="548640" y="3154680"/>
            <a:ext cx="11094415" cy="731520"/>
          </a:xfrm>
          <a:prstGeom prst="rect">
            <a:avLst/>
          </a:prstGeom>
          <a:noFill/>
          <a:ln/>
        </p:spPr>
        <p:txBody>
          <a:bodyPr wrap="square" lIns="0" tIns="0" rIns="0" bIns="0" rtlCol="0" anchor="ctr"/>
          <a:lstStyle/>
          <a:p>
            <a:pPr indent="0" marL="0">
              <a:lnSpc>
                <a:spcPts val="2200"/>
              </a:lnSpc>
              <a:buNone/>
            </a:pPr>
            <a:r>
              <a:rPr lang="en-US" sz="1500" dirty="0">
                <a:solidFill>
                  <a:srgbClr val="C7D3DF"/>
                </a:solidFill>
                <a:latin typeface="Calibri" pitchFamily="34" charset="0"/>
                <a:ea typeface="Calibri" pitchFamily="34" charset="-122"/>
                <a:cs typeface="Calibri" pitchFamily="34" charset="-120"/>
              </a:rPr>
              <a:t>BIT1123 Object Oriented Programming  ·  Final Group Project (40%)</a:t>
            </a:r>
            <a:endParaRPr lang="en-US" sz="1500" dirty="0"/>
          </a:p>
          <a:p>
            <a:pPr indent="0" marL="0">
              <a:lnSpc>
                <a:spcPts val="2200"/>
              </a:lnSpc>
              <a:buNone/>
            </a:pPr>
            <a:r>
              <a:rPr lang="en-US" sz="1500" dirty="0">
                <a:solidFill>
                  <a:srgbClr val="C7D3DF"/>
                </a:solidFill>
                <a:latin typeface="Calibri" pitchFamily="34" charset="0"/>
                <a:ea typeface="Calibri" pitchFamily="34" charset="-122"/>
                <a:cs typeface="Calibri" pitchFamily="34" charset="-120"/>
              </a:rPr>
              <a:t>Faculty of Information Technology, City University Malaysia</a:t>
            </a:r>
            <a:endParaRPr lang="en-US" sz="1500" dirty="0"/>
          </a:p>
        </p:txBody>
      </p:sp>
      <p:sp>
        <p:nvSpPr>
          <p:cNvPr id="5" name="Text 3"/>
          <p:cNvSpPr/>
          <p:nvPr/>
        </p:nvSpPr>
        <p:spPr>
          <a:xfrm>
            <a:off x="548640" y="4892040"/>
            <a:ext cx="11094415"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Presented by Member 1  ·  Member 2  ·  Member 3  ·  Member 4</a:t>
            </a:r>
            <a:endParaRPr lang="en-US" sz="1500" dirty="0"/>
          </a:p>
        </p:txBody>
      </p:sp>
      <p:sp>
        <p:nvSpPr>
          <p:cNvPr id="6" name="Text 4"/>
          <p:cNvSpPr/>
          <p:nvPr/>
        </p:nvSpPr>
        <p:spPr>
          <a:xfrm>
            <a:off x="548640" y="5285232"/>
            <a:ext cx="11094415" cy="365760"/>
          </a:xfrm>
          <a:prstGeom prst="rect">
            <a:avLst/>
          </a:prstGeom>
          <a:noFill/>
          <a:ln/>
        </p:spPr>
        <p:txBody>
          <a:bodyPr wrap="square" lIns="0" tIns="0" rIns="0" bIns="0" rtlCol="0" anchor="ctr"/>
          <a:lstStyle/>
          <a:p>
            <a:pPr indent="0" marL="0">
              <a:buNone/>
            </a:pPr>
            <a:r>
              <a:rPr lang="en-US" sz="1300" dirty="0">
                <a:solidFill>
                  <a:srgbClr val="8FA3B5"/>
                </a:solidFill>
                <a:latin typeface="Calibri" pitchFamily="34" charset="0"/>
                <a:ea typeface="Calibri" pitchFamily="34" charset="-122"/>
                <a:cs typeface="Calibri" pitchFamily="34" charset="-120"/>
              </a:rPr>
              <a:t>10-minute presentation  ·  live demo  ·  Q&amp;A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8808415" cy="822960"/>
          </a:xfrm>
          <a:prstGeom prst="rect">
            <a:avLst/>
          </a:prstGeom>
          <a:noFill/>
          <a:ln/>
        </p:spPr>
        <p:txBody>
          <a:bodyPr wrap="square" lIns="0" tIns="0" rIns="0" bIns="0" rtlCol="0" anchor="t"/>
          <a:lstStyle/>
          <a:p>
            <a:pPr algn="l" indent="0" marL="0">
              <a:buNone/>
            </a:pPr>
            <a:r>
              <a:rPr lang="en-US" sz="2600" b="1" dirty="0">
                <a:solidFill>
                  <a:srgbClr val="0B2545"/>
                </a:solidFill>
                <a:latin typeface="Calibri" pitchFamily="34" charset="0"/>
                <a:ea typeface="Calibri" pitchFamily="34" charset="-122"/>
                <a:cs typeface="Calibri" pitchFamily="34" charset="-120"/>
              </a:rPr>
              <a:t>Cities are told to go renewable - not what it costs, or when the lights go out.</a:t>
            </a:r>
            <a:endParaRPr lang="en-US" sz="2600" dirty="0"/>
          </a:p>
        </p:txBody>
      </p:sp>
      <p:sp>
        <p:nvSpPr>
          <p:cNvPr id="3" name="Text 1"/>
          <p:cNvSpPr/>
          <p:nvPr/>
        </p:nvSpPr>
        <p:spPr>
          <a:xfrm>
            <a:off x="9448495" y="384048"/>
            <a:ext cx="2194560" cy="274320"/>
          </a:xfrm>
          <a:prstGeom prst="rect">
            <a:avLst/>
          </a:prstGeom>
          <a:noFill/>
          <a:ln/>
        </p:spPr>
        <p:txBody>
          <a:bodyPr wrap="square" lIns="0" tIns="0" rIns="0" bIns="0" rtlCol="0" anchor="ctr"/>
          <a:lstStyle/>
          <a:p>
            <a:pPr algn="r" indent="0" marL="0">
              <a:buNone/>
            </a:pPr>
            <a:r>
              <a:rPr lang="en-US" sz="1100" dirty="0">
                <a:solidFill>
                  <a:srgbClr val="5A6B7C"/>
                </a:solidFill>
                <a:latin typeface="Calibri" pitchFamily="34" charset="0"/>
                <a:ea typeface="Calibri" pitchFamily="34" charset="-122"/>
                <a:cs typeface="Calibri" pitchFamily="34" charset="-120"/>
              </a:rPr>
              <a:t>Member 1  ·  0:20 - 1:00</a:t>
            </a:r>
            <a:endParaRPr lang="en-US" sz="1100" dirty="0"/>
          </a:p>
        </p:txBody>
      </p:sp>
      <p:sp>
        <p:nvSpPr>
          <p:cNvPr id="4" name="Text 2"/>
          <p:cNvSpPr/>
          <p:nvPr/>
        </p:nvSpPr>
        <p:spPr>
          <a:xfrm>
            <a:off x="548640" y="1828800"/>
            <a:ext cx="6309360" cy="329184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rgbClr val="23303C"/>
                </a:solidFill>
                <a:latin typeface="Calibri" pitchFamily="34" charset="0"/>
                <a:ea typeface="Calibri" pitchFamily="34" charset="-122"/>
                <a:cs typeface="Calibri" pitchFamily="34" charset="-120"/>
              </a:rPr>
              <a:t>Electricity generation is the largest single source of a city's carbon emissions.</a:t>
            </a:r>
            <a:endParaRPr lang="en-US" sz="1700" dirty="0"/>
          </a:p>
          <a:p>
            <a:pPr marL="342900" indent="-342900">
              <a:spcAft>
                <a:spcPts val="1000"/>
              </a:spcAft>
              <a:buSzPct val="100000"/>
              <a:buChar char="•"/>
            </a:pPr>
            <a:r>
              <a:rPr lang="en-US" sz="1700" dirty="0">
                <a:solidFill>
                  <a:srgbClr val="23303C"/>
                </a:solidFill>
                <a:latin typeface="Calibri" pitchFamily="34" charset="0"/>
                <a:ea typeface="Calibri" pitchFamily="34" charset="-122"/>
                <a:cs typeface="Calibri" pitchFamily="34" charset="-120"/>
              </a:rPr>
              <a:t>Solar and wind are not dispatchable - output depends on the hour and the weather.</a:t>
            </a:r>
            <a:endParaRPr lang="en-US" sz="1700" dirty="0"/>
          </a:p>
          <a:p>
            <a:pPr marL="342900" indent="-342900">
              <a:spcAft>
                <a:spcPts val="1000"/>
              </a:spcAft>
              <a:buSzPct val="100000"/>
              <a:buChar char="•"/>
            </a:pPr>
            <a:r>
              <a:rPr lang="en-US" sz="1700" dirty="0">
                <a:solidFill>
                  <a:srgbClr val="23303C"/>
                </a:solidFill>
                <a:latin typeface="Calibri" pitchFamily="34" charset="0"/>
                <a:ea typeface="Calibri" pitchFamily="34" charset="-122"/>
                <a:cs typeface="Calibri" pitchFamily="34" charset="-120"/>
              </a:rPr>
              <a:t>The cruel timing: the sun sets at 19:00, exactly as demand hits its evening peak.</a:t>
            </a:r>
            <a:endParaRPr lang="en-US" sz="1700" dirty="0"/>
          </a:p>
          <a:p>
            <a:pPr marL="342900" indent="-342900">
              <a:spcAft>
                <a:spcPts val="1000"/>
              </a:spcAft>
              <a:buSzPct val="100000"/>
              <a:buChar char="•"/>
            </a:pPr>
            <a:r>
              <a:rPr lang="en-US" sz="1700" dirty="0">
                <a:solidFill>
                  <a:srgbClr val="23303C"/>
                </a:solidFill>
                <a:latin typeface="Calibri" pitchFamily="34" charset="0"/>
                <a:ea typeface="Calibri" pitchFamily="34" charset="-122"/>
                <a:cs typeface="Calibri" pitchFamily="34" charset="-120"/>
              </a:rPr>
              <a:t>Planners must weigh cost, CO₂ and blackout risk together, not one at a time.</a:t>
            </a:r>
            <a:endParaRPr lang="en-US" sz="1700" dirty="0"/>
          </a:p>
        </p:txBody>
      </p:sp>
      <p:sp>
        <p:nvSpPr>
          <p:cNvPr id="5" name="Shape 3"/>
          <p:cNvSpPr/>
          <p:nvPr/>
        </p:nvSpPr>
        <p:spPr>
          <a:xfrm>
            <a:off x="7223760" y="1828800"/>
            <a:ext cx="4434840" cy="2468880"/>
          </a:xfrm>
          <a:prstGeom prst="roundRect">
            <a:avLst>
              <a:gd name="adj" fmla="val 2963"/>
            </a:avLst>
          </a:prstGeom>
          <a:solidFill>
            <a:srgbClr val="EEF2F6"/>
          </a:solidFill>
          <a:ln w="12700">
            <a:solidFill>
              <a:srgbClr val="EEF2F6"/>
            </a:solidFill>
            <a:prstDash val="solid"/>
          </a:ln>
        </p:spPr>
      </p:sp>
      <p:sp>
        <p:nvSpPr>
          <p:cNvPr id="6" name="Text 4"/>
          <p:cNvSpPr/>
          <p:nvPr/>
        </p:nvSpPr>
        <p:spPr>
          <a:xfrm>
            <a:off x="7498080" y="2011680"/>
            <a:ext cx="3931920" cy="320040"/>
          </a:xfrm>
          <a:prstGeom prst="rect">
            <a:avLst/>
          </a:prstGeom>
          <a:noFill/>
          <a:ln/>
        </p:spPr>
        <p:txBody>
          <a:bodyPr wrap="square" lIns="0" tIns="0" rIns="0" bIns="0" rtlCol="0" anchor="ctr"/>
          <a:lstStyle/>
          <a:p>
            <a:pPr indent="0" marL="0">
              <a:buNone/>
            </a:pPr>
            <a:r>
              <a:rPr lang="en-US" sz="1400" b="1" dirty="0">
                <a:solidFill>
                  <a:srgbClr val="1B998B"/>
                </a:solidFill>
                <a:latin typeface="Calibri" pitchFamily="34" charset="0"/>
                <a:ea typeface="Calibri" pitchFamily="34" charset="-122"/>
                <a:cs typeface="Calibri" pitchFamily="34" charset="-120"/>
              </a:rPr>
              <a:t>The gap</a:t>
            </a:r>
            <a:endParaRPr lang="en-US" sz="1400" dirty="0"/>
          </a:p>
        </p:txBody>
      </p:sp>
      <p:sp>
        <p:nvSpPr>
          <p:cNvPr id="7" name="Text 5"/>
          <p:cNvSpPr/>
          <p:nvPr/>
        </p:nvSpPr>
        <p:spPr>
          <a:xfrm>
            <a:off x="7498080" y="2377440"/>
            <a:ext cx="3931920" cy="1737360"/>
          </a:xfrm>
          <a:prstGeom prst="rect">
            <a:avLst/>
          </a:prstGeom>
          <a:noFill/>
          <a:ln/>
        </p:spPr>
        <p:txBody>
          <a:bodyPr wrap="square" lIns="0" tIns="0" rIns="0" bIns="0" rtlCol="0" anchor="ctr"/>
          <a:lstStyle/>
          <a:p>
            <a:pPr indent="0" marL="0">
              <a:lnSpc>
                <a:spcPts val="2400"/>
              </a:lnSpc>
              <a:buNone/>
            </a:pPr>
            <a:r>
              <a:rPr lang="en-US" sz="1700" dirty="0">
                <a:solidFill>
                  <a:srgbClr val="0B2545"/>
                </a:solidFill>
                <a:latin typeface="Calibri" pitchFamily="34" charset="0"/>
                <a:ea typeface="Calibri" pitchFamily="34" charset="-122"/>
                <a:cs typeface="Calibri" pitchFamily="34" charset="-120"/>
              </a:rPr>
              <a:t>There is no simple, hands-on tool for a student or a planner to build an energy mix and watch it succeed or fail hour by hour.</a:t>
            </a:r>
            <a:endParaRPr lang="en-US" sz="1700" dirty="0"/>
          </a:p>
        </p:txBody>
      </p:sp>
      <p:sp>
        <p:nvSpPr>
          <p:cNvPr id="8" name="Text 6"/>
          <p:cNvSpPr/>
          <p:nvPr/>
        </p:nvSpPr>
        <p:spPr>
          <a:xfrm>
            <a:off x="548640" y="5669280"/>
            <a:ext cx="11094415" cy="320040"/>
          </a:xfrm>
          <a:prstGeom prst="rect">
            <a:avLst/>
          </a:prstGeom>
          <a:noFill/>
          <a:ln/>
        </p:spPr>
        <p:txBody>
          <a:bodyPr wrap="square" lIns="0" tIns="0" rIns="0" bIns="0" rtlCol="0" anchor="ctr"/>
          <a:lstStyle/>
          <a:p>
            <a:pPr indent="0" marL="0">
              <a:buNone/>
            </a:pPr>
            <a:r>
              <a:rPr lang="en-US" sz="1200" i="1" dirty="0">
                <a:solidFill>
                  <a:srgbClr val="5A6B7C"/>
                </a:solidFill>
                <a:latin typeface="Calibri" pitchFamily="34" charset="0"/>
                <a:ea typeface="Calibri" pitchFamily="34" charset="-122"/>
                <a:cs typeface="Calibri" pitchFamily="34" charset="-120"/>
              </a:rPr>
              <a:t>SDG 7 target 7.2: substantially increase the share of renewable energy in the global energy mix.</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8808415" cy="822960"/>
          </a:xfrm>
          <a:prstGeom prst="rect">
            <a:avLst/>
          </a:prstGeom>
          <a:noFill/>
          <a:ln/>
        </p:spPr>
        <p:txBody>
          <a:bodyPr wrap="square" lIns="0" tIns="0" rIns="0" bIns="0" rtlCol="0" anchor="t"/>
          <a:lstStyle/>
          <a:p>
            <a:pPr algn="l" indent="0" marL="0">
              <a:buNone/>
            </a:pPr>
            <a:r>
              <a:rPr lang="en-US" sz="2600" b="1" dirty="0">
                <a:solidFill>
                  <a:srgbClr val="0B2545"/>
                </a:solidFill>
                <a:latin typeface="Calibri" pitchFamily="34" charset="0"/>
                <a:ea typeface="Calibri" pitchFamily="34" charset="-122"/>
                <a:cs typeface="Calibri" pitchFamily="34" charset="-120"/>
              </a:rPr>
              <a:t>We set five objectives - four for the city, one for the syllabus.</a:t>
            </a:r>
            <a:endParaRPr lang="en-US" sz="2600" dirty="0"/>
          </a:p>
        </p:txBody>
      </p:sp>
      <p:sp>
        <p:nvSpPr>
          <p:cNvPr id="3" name="Text 1"/>
          <p:cNvSpPr/>
          <p:nvPr/>
        </p:nvSpPr>
        <p:spPr>
          <a:xfrm>
            <a:off x="9448495" y="384048"/>
            <a:ext cx="2194560" cy="274320"/>
          </a:xfrm>
          <a:prstGeom prst="rect">
            <a:avLst/>
          </a:prstGeom>
          <a:noFill/>
          <a:ln/>
        </p:spPr>
        <p:txBody>
          <a:bodyPr wrap="square" lIns="0" tIns="0" rIns="0" bIns="0" rtlCol="0" anchor="ctr"/>
          <a:lstStyle/>
          <a:p>
            <a:pPr algn="r" indent="0" marL="0">
              <a:buNone/>
            </a:pPr>
            <a:r>
              <a:rPr lang="en-US" sz="1100" dirty="0">
                <a:solidFill>
                  <a:srgbClr val="5A6B7C"/>
                </a:solidFill>
                <a:latin typeface="Calibri" pitchFamily="34" charset="0"/>
                <a:ea typeface="Calibri" pitchFamily="34" charset="-122"/>
                <a:cs typeface="Calibri" pitchFamily="34" charset="-120"/>
              </a:rPr>
              <a:t>Member 1  ·  1:00 - 1:35</a:t>
            </a:r>
            <a:endParaRPr lang="en-US" sz="1100" dirty="0"/>
          </a:p>
        </p:txBody>
      </p:sp>
      <p:sp>
        <p:nvSpPr>
          <p:cNvPr id="4" name="Text 2"/>
          <p:cNvSpPr/>
          <p:nvPr/>
        </p:nvSpPr>
        <p:spPr>
          <a:xfrm>
            <a:off x="548640" y="1737360"/>
            <a:ext cx="411480" cy="384048"/>
          </a:xfrm>
          <a:prstGeom prst="rect">
            <a:avLst/>
          </a:prstGeom>
          <a:noFill/>
          <a:ln/>
        </p:spPr>
        <p:txBody>
          <a:bodyPr wrap="square" lIns="0" tIns="0" rIns="0" bIns="0" rtlCol="0" anchor="ctr"/>
          <a:lstStyle/>
          <a:p>
            <a:pPr algn="l" indent="0" marL="0">
              <a:buNone/>
            </a:pPr>
            <a:r>
              <a:rPr lang="en-US" sz="2200" b="1" dirty="0">
                <a:solidFill>
                  <a:srgbClr val="F4A300"/>
                </a:solidFill>
                <a:latin typeface="Calibri" pitchFamily="34" charset="0"/>
                <a:ea typeface="Calibri" pitchFamily="34" charset="-122"/>
                <a:cs typeface="Calibri" pitchFamily="34" charset="-120"/>
              </a:rPr>
              <a:t>1</a:t>
            </a:r>
            <a:endParaRPr lang="en-US" sz="2200" dirty="0"/>
          </a:p>
        </p:txBody>
      </p:sp>
      <p:sp>
        <p:nvSpPr>
          <p:cNvPr id="5" name="Text 3"/>
          <p:cNvSpPr/>
          <p:nvPr/>
        </p:nvSpPr>
        <p:spPr>
          <a:xfrm>
            <a:off x="1005840" y="1737360"/>
            <a:ext cx="2651760" cy="384048"/>
          </a:xfrm>
          <a:prstGeom prst="rect">
            <a:avLst/>
          </a:prstGeom>
          <a:noFill/>
          <a:ln/>
        </p:spPr>
        <p:txBody>
          <a:bodyPr wrap="square" lIns="0" tIns="0" rIns="0" bIns="0" rtlCol="0" anchor="t"/>
          <a:lstStyle/>
          <a:p>
            <a:pPr indent="0" marL="0">
              <a:buNone/>
            </a:pPr>
            <a:r>
              <a:rPr lang="en-US" sz="1800" b="1" dirty="0">
                <a:solidFill>
                  <a:srgbClr val="0B2545"/>
                </a:solidFill>
                <a:latin typeface="Calibri" pitchFamily="34" charset="0"/>
                <a:ea typeface="Calibri" pitchFamily="34" charset="-122"/>
                <a:cs typeface="Calibri" pitchFamily="34" charset="-120"/>
              </a:rPr>
              <a:t>Model reality</a:t>
            </a:r>
            <a:endParaRPr lang="en-US" sz="1800" dirty="0"/>
          </a:p>
        </p:txBody>
      </p:sp>
      <p:sp>
        <p:nvSpPr>
          <p:cNvPr id="6" name="Text 4"/>
          <p:cNvSpPr/>
          <p:nvPr/>
        </p:nvSpPr>
        <p:spPr>
          <a:xfrm>
            <a:off x="3840480" y="1737360"/>
            <a:ext cx="7802575" cy="457200"/>
          </a:xfrm>
          <a:prstGeom prst="rect">
            <a:avLst/>
          </a:prstGeom>
          <a:noFill/>
          <a:ln/>
        </p:spPr>
        <p:txBody>
          <a:bodyPr wrap="square" lIns="0" tIns="0" rIns="0" bIns="0" rtlCol="0" anchor="t"/>
          <a:lstStyle/>
          <a:p>
            <a:pPr indent="0" marL="0">
              <a:buNone/>
            </a:pPr>
            <a:r>
              <a:rPr lang="en-US" sz="1700" dirty="0">
                <a:solidFill>
                  <a:srgbClr val="23303C"/>
                </a:solidFill>
                <a:latin typeface="Calibri" pitchFamily="34" charset="0"/>
                <a:ea typeface="Calibri" pitchFamily="34" charset="-122"/>
                <a:cs typeface="Calibri" pitchFamily="34" charset="-120"/>
              </a:rPr>
              <a:t>A 24-hour demand curve and four source types that each behave differently.</a:t>
            </a:r>
            <a:endParaRPr lang="en-US" sz="1700" dirty="0"/>
          </a:p>
        </p:txBody>
      </p:sp>
      <p:sp>
        <p:nvSpPr>
          <p:cNvPr id="7" name="Text 5"/>
          <p:cNvSpPr/>
          <p:nvPr/>
        </p:nvSpPr>
        <p:spPr>
          <a:xfrm>
            <a:off x="548640" y="2606040"/>
            <a:ext cx="411480" cy="384048"/>
          </a:xfrm>
          <a:prstGeom prst="rect">
            <a:avLst/>
          </a:prstGeom>
          <a:noFill/>
          <a:ln/>
        </p:spPr>
        <p:txBody>
          <a:bodyPr wrap="square" lIns="0" tIns="0" rIns="0" bIns="0" rtlCol="0" anchor="ctr"/>
          <a:lstStyle/>
          <a:p>
            <a:pPr algn="l" indent="0" marL="0">
              <a:buNone/>
            </a:pPr>
            <a:r>
              <a:rPr lang="en-US" sz="2200" b="1" dirty="0">
                <a:solidFill>
                  <a:srgbClr val="F4A300"/>
                </a:solidFill>
                <a:latin typeface="Calibri" pitchFamily="34" charset="0"/>
                <a:ea typeface="Calibri" pitchFamily="34" charset="-122"/>
                <a:cs typeface="Calibri" pitchFamily="34" charset="-120"/>
              </a:rPr>
              <a:t>2</a:t>
            </a:r>
            <a:endParaRPr lang="en-US" sz="2200" dirty="0"/>
          </a:p>
        </p:txBody>
      </p:sp>
      <p:sp>
        <p:nvSpPr>
          <p:cNvPr id="8" name="Text 6"/>
          <p:cNvSpPr/>
          <p:nvPr/>
        </p:nvSpPr>
        <p:spPr>
          <a:xfrm>
            <a:off x="1005840" y="2606040"/>
            <a:ext cx="2651760" cy="384048"/>
          </a:xfrm>
          <a:prstGeom prst="rect">
            <a:avLst/>
          </a:prstGeom>
          <a:noFill/>
          <a:ln/>
        </p:spPr>
        <p:txBody>
          <a:bodyPr wrap="square" lIns="0" tIns="0" rIns="0" bIns="0" rtlCol="0" anchor="t"/>
          <a:lstStyle/>
          <a:p>
            <a:pPr indent="0" marL="0">
              <a:buNone/>
            </a:pPr>
            <a:r>
              <a:rPr lang="en-US" sz="1800" b="1" dirty="0">
                <a:solidFill>
                  <a:srgbClr val="0B2545"/>
                </a:solidFill>
                <a:latin typeface="Calibri" pitchFamily="34" charset="0"/>
                <a:ea typeface="Calibri" pitchFamily="34" charset="-122"/>
                <a:cs typeface="Calibri" pitchFamily="34" charset="-120"/>
              </a:rPr>
              <a:t>Dispatch cleanly</a:t>
            </a:r>
            <a:endParaRPr lang="en-US" sz="1800" dirty="0"/>
          </a:p>
        </p:txBody>
      </p:sp>
      <p:sp>
        <p:nvSpPr>
          <p:cNvPr id="9" name="Text 7"/>
          <p:cNvSpPr/>
          <p:nvPr/>
        </p:nvSpPr>
        <p:spPr>
          <a:xfrm>
            <a:off x="3840480" y="2606040"/>
            <a:ext cx="7802575" cy="457200"/>
          </a:xfrm>
          <a:prstGeom prst="rect">
            <a:avLst/>
          </a:prstGeom>
          <a:noFill/>
          <a:ln/>
        </p:spPr>
        <p:txBody>
          <a:bodyPr wrap="square" lIns="0" tIns="0" rIns="0" bIns="0" rtlCol="0" anchor="t"/>
          <a:lstStyle/>
          <a:p>
            <a:pPr indent="0" marL="0">
              <a:buNone/>
            </a:pPr>
            <a:r>
              <a:rPr lang="en-US" sz="1700" dirty="0">
                <a:solidFill>
                  <a:srgbClr val="23303C"/>
                </a:solidFill>
                <a:latin typeface="Calibri" pitchFamily="34" charset="0"/>
                <a:ea typeface="Calibri" pitchFamily="34" charset="-122"/>
                <a:cs typeface="Calibri" pitchFamily="34" charset="-120"/>
              </a:rPr>
              <a:t>Renewables first, hydro next, gas only as the last resort.</a:t>
            </a:r>
            <a:endParaRPr lang="en-US" sz="1700" dirty="0"/>
          </a:p>
        </p:txBody>
      </p:sp>
      <p:sp>
        <p:nvSpPr>
          <p:cNvPr id="10" name="Text 8"/>
          <p:cNvSpPr/>
          <p:nvPr/>
        </p:nvSpPr>
        <p:spPr>
          <a:xfrm>
            <a:off x="548640" y="3474720"/>
            <a:ext cx="411480" cy="384048"/>
          </a:xfrm>
          <a:prstGeom prst="rect">
            <a:avLst/>
          </a:prstGeom>
          <a:noFill/>
          <a:ln/>
        </p:spPr>
        <p:txBody>
          <a:bodyPr wrap="square" lIns="0" tIns="0" rIns="0" bIns="0" rtlCol="0" anchor="ctr"/>
          <a:lstStyle/>
          <a:p>
            <a:pPr algn="l" indent="0" marL="0">
              <a:buNone/>
            </a:pPr>
            <a:r>
              <a:rPr lang="en-US" sz="2200" b="1" dirty="0">
                <a:solidFill>
                  <a:srgbClr val="F4A300"/>
                </a:solidFill>
                <a:latin typeface="Calibri" pitchFamily="34" charset="0"/>
                <a:ea typeface="Calibri" pitchFamily="34" charset="-122"/>
                <a:cs typeface="Calibri" pitchFamily="34" charset="-120"/>
              </a:rPr>
              <a:t>3</a:t>
            </a:r>
            <a:endParaRPr lang="en-US" sz="2200" dirty="0"/>
          </a:p>
        </p:txBody>
      </p:sp>
      <p:sp>
        <p:nvSpPr>
          <p:cNvPr id="11" name="Text 9"/>
          <p:cNvSpPr/>
          <p:nvPr/>
        </p:nvSpPr>
        <p:spPr>
          <a:xfrm>
            <a:off x="1005840" y="3474720"/>
            <a:ext cx="2651760" cy="384048"/>
          </a:xfrm>
          <a:prstGeom prst="rect">
            <a:avLst/>
          </a:prstGeom>
          <a:noFill/>
          <a:ln/>
        </p:spPr>
        <p:txBody>
          <a:bodyPr wrap="square" lIns="0" tIns="0" rIns="0" bIns="0" rtlCol="0" anchor="t"/>
          <a:lstStyle/>
          <a:p>
            <a:pPr indent="0" marL="0">
              <a:buNone/>
            </a:pPr>
            <a:r>
              <a:rPr lang="en-US" sz="1800" b="1" dirty="0">
                <a:solidFill>
                  <a:srgbClr val="0B2545"/>
                </a:solidFill>
                <a:latin typeface="Calibri" pitchFamily="34" charset="0"/>
                <a:ea typeface="Calibri" pitchFamily="34" charset="-122"/>
                <a:cs typeface="Calibri" pitchFamily="34" charset="-120"/>
              </a:rPr>
              <a:t>Measure it</a:t>
            </a:r>
            <a:endParaRPr lang="en-US" sz="1800" dirty="0"/>
          </a:p>
        </p:txBody>
      </p:sp>
      <p:sp>
        <p:nvSpPr>
          <p:cNvPr id="12" name="Text 10"/>
          <p:cNvSpPr/>
          <p:nvPr/>
        </p:nvSpPr>
        <p:spPr>
          <a:xfrm>
            <a:off x="3840480" y="3474720"/>
            <a:ext cx="7802575" cy="457200"/>
          </a:xfrm>
          <a:prstGeom prst="rect">
            <a:avLst/>
          </a:prstGeom>
          <a:noFill/>
          <a:ln/>
        </p:spPr>
        <p:txBody>
          <a:bodyPr wrap="square" lIns="0" tIns="0" rIns="0" bIns="0" rtlCol="0" anchor="t"/>
          <a:lstStyle/>
          <a:p>
            <a:pPr indent="0" marL="0">
              <a:buNone/>
            </a:pPr>
            <a:r>
              <a:rPr lang="en-US" sz="1700" dirty="0">
                <a:solidFill>
                  <a:srgbClr val="23303C"/>
                </a:solidFill>
                <a:latin typeface="Calibri" pitchFamily="34" charset="0"/>
                <a:ea typeface="Calibri" pitchFamily="34" charset="-122"/>
                <a:cs typeface="Calibri" pitchFamily="34" charset="-120"/>
              </a:rPr>
              <a:t>Report cost, CO₂, renewable share and blackout hours for every run.</a:t>
            </a:r>
            <a:endParaRPr lang="en-US" sz="1700" dirty="0"/>
          </a:p>
        </p:txBody>
      </p:sp>
      <p:sp>
        <p:nvSpPr>
          <p:cNvPr id="13" name="Text 11"/>
          <p:cNvSpPr/>
          <p:nvPr/>
        </p:nvSpPr>
        <p:spPr>
          <a:xfrm>
            <a:off x="548640" y="4343400"/>
            <a:ext cx="411480" cy="384048"/>
          </a:xfrm>
          <a:prstGeom prst="rect">
            <a:avLst/>
          </a:prstGeom>
          <a:noFill/>
          <a:ln/>
        </p:spPr>
        <p:txBody>
          <a:bodyPr wrap="square" lIns="0" tIns="0" rIns="0" bIns="0" rtlCol="0" anchor="ctr"/>
          <a:lstStyle/>
          <a:p>
            <a:pPr algn="l" indent="0" marL="0">
              <a:buNone/>
            </a:pPr>
            <a:r>
              <a:rPr lang="en-US" sz="2200" b="1" dirty="0">
                <a:solidFill>
                  <a:srgbClr val="F4A300"/>
                </a:solidFill>
                <a:latin typeface="Calibri" pitchFamily="34" charset="0"/>
                <a:ea typeface="Calibri" pitchFamily="34" charset="-122"/>
                <a:cs typeface="Calibri" pitchFamily="34" charset="-120"/>
              </a:rPr>
              <a:t>4</a:t>
            </a:r>
            <a:endParaRPr lang="en-US" sz="2200" dirty="0"/>
          </a:p>
        </p:txBody>
      </p:sp>
      <p:sp>
        <p:nvSpPr>
          <p:cNvPr id="14" name="Text 12"/>
          <p:cNvSpPr/>
          <p:nvPr/>
        </p:nvSpPr>
        <p:spPr>
          <a:xfrm>
            <a:off x="1005840" y="4343400"/>
            <a:ext cx="2651760" cy="384048"/>
          </a:xfrm>
          <a:prstGeom prst="rect">
            <a:avLst/>
          </a:prstGeom>
          <a:noFill/>
          <a:ln/>
        </p:spPr>
        <p:txBody>
          <a:bodyPr wrap="square" lIns="0" tIns="0" rIns="0" bIns="0" rtlCol="0" anchor="t"/>
          <a:lstStyle/>
          <a:p>
            <a:pPr indent="0" marL="0">
              <a:buNone/>
            </a:pPr>
            <a:r>
              <a:rPr lang="en-US" sz="1800" b="1" dirty="0">
                <a:solidFill>
                  <a:srgbClr val="0B2545"/>
                </a:solidFill>
                <a:latin typeface="Calibri" pitchFamily="34" charset="0"/>
                <a:ea typeface="Calibri" pitchFamily="34" charset="-122"/>
                <a:cs typeface="Calibri" pitchFamily="34" charset="-120"/>
              </a:rPr>
              <a:t>Advise, not store</a:t>
            </a:r>
            <a:endParaRPr lang="en-US" sz="1800" dirty="0"/>
          </a:p>
        </p:txBody>
      </p:sp>
      <p:sp>
        <p:nvSpPr>
          <p:cNvPr id="15" name="Text 13"/>
          <p:cNvSpPr/>
          <p:nvPr/>
        </p:nvSpPr>
        <p:spPr>
          <a:xfrm>
            <a:off x="3840480" y="4343400"/>
            <a:ext cx="7802575" cy="457200"/>
          </a:xfrm>
          <a:prstGeom prst="rect">
            <a:avLst/>
          </a:prstGeom>
          <a:noFill/>
          <a:ln/>
        </p:spPr>
        <p:txBody>
          <a:bodyPr wrap="square" lIns="0" tIns="0" rIns="0" bIns="0" rtlCol="0" anchor="t"/>
          <a:lstStyle/>
          <a:p>
            <a:pPr indent="0" marL="0">
              <a:buNone/>
            </a:pPr>
            <a:r>
              <a:rPr lang="en-US" sz="1700" dirty="0">
                <a:solidFill>
                  <a:srgbClr val="23303C"/>
                </a:solidFill>
                <a:latin typeface="Calibri" pitchFamily="34" charset="0"/>
                <a:ea typeface="Calibri" pitchFamily="34" charset="-122"/>
                <a:cs typeface="Calibri" pitchFamily="34" charset="-120"/>
              </a:rPr>
              <a:t>Tell the user how to improve the mix - decision logic, not data entry.</a:t>
            </a:r>
            <a:endParaRPr lang="en-US" sz="1700" dirty="0"/>
          </a:p>
        </p:txBody>
      </p:sp>
      <p:sp>
        <p:nvSpPr>
          <p:cNvPr id="16" name="Text 14"/>
          <p:cNvSpPr/>
          <p:nvPr/>
        </p:nvSpPr>
        <p:spPr>
          <a:xfrm>
            <a:off x="548640" y="5212080"/>
            <a:ext cx="411480" cy="384048"/>
          </a:xfrm>
          <a:prstGeom prst="rect">
            <a:avLst/>
          </a:prstGeom>
          <a:noFill/>
          <a:ln/>
        </p:spPr>
        <p:txBody>
          <a:bodyPr wrap="square" lIns="0" tIns="0" rIns="0" bIns="0" rtlCol="0" anchor="ctr"/>
          <a:lstStyle/>
          <a:p>
            <a:pPr algn="l" indent="0" marL="0">
              <a:buNone/>
            </a:pPr>
            <a:r>
              <a:rPr lang="en-US" sz="2200" b="1" dirty="0">
                <a:solidFill>
                  <a:srgbClr val="F4A300"/>
                </a:solidFill>
                <a:latin typeface="Calibri" pitchFamily="34" charset="0"/>
                <a:ea typeface="Calibri" pitchFamily="34" charset="-122"/>
                <a:cs typeface="Calibri" pitchFamily="34" charset="-120"/>
              </a:rPr>
              <a:t>5</a:t>
            </a:r>
            <a:endParaRPr lang="en-US" sz="2200" dirty="0"/>
          </a:p>
        </p:txBody>
      </p:sp>
      <p:sp>
        <p:nvSpPr>
          <p:cNvPr id="17" name="Text 15"/>
          <p:cNvSpPr/>
          <p:nvPr/>
        </p:nvSpPr>
        <p:spPr>
          <a:xfrm>
            <a:off x="1005840" y="5212080"/>
            <a:ext cx="2651760" cy="384048"/>
          </a:xfrm>
          <a:prstGeom prst="rect">
            <a:avLst/>
          </a:prstGeom>
          <a:noFill/>
          <a:ln/>
        </p:spPr>
        <p:txBody>
          <a:bodyPr wrap="square" lIns="0" tIns="0" rIns="0" bIns="0" rtlCol="0" anchor="t"/>
          <a:lstStyle/>
          <a:p>
            <a:pPr indent="0" marL="0">
              <a:buNone/>
            </a:pPr>
            <a:r>
              <a:rPr lang="en-US" sz="1800" b="1" dirty="0">
                <a:solidFill>
                  <a:srgbClr val="0B2545"/>
                </a:solidFill>
                <a:latin typeface="Calibri" pitchFamily="34" charset="0"/>
                <a:ea typeface="Calibri" pitchFamily="34" charset="-122"/>
                <a:cs typeface="Calibri" pitchFamily="34" charset="-120"/>
              </a:rPr>
              <a:t>Prove the syllabus</a:t>
            </a:r>
            <a:endParaRPr lang="en-US" sz="1800" dirty="0"/>
          </a:p>
        </p:txBody>
      </p:sp>
      <p:sp>
        <p:nvSpPr>
          <p:cNvPr id="18" name="Text 16"/>
          <p:cNvSpPr/>
          <p:nvPr/>
        </p:nvSpPr>
        <p:spPr>
          <a:xfrm>
            <a:off x="3840480" y="5212080"/>
            <a:ext cx="7802575" cy="457200"/>
          </a:xfrm>
          <a:prstGeom prst="rect">
            <a:avLst/>
          </a:prstGeom>
          <a:noFill/>
          <a:ln/>
        </p:spPr>
        <p:txBody>
          <a:bodyPr wrap="square" lIns="0" tIns="0" rIns="0" bIns="0" rtlCol="0" anchor="t"/>
          <a:lstStyle/>
          <a:p>
            <a:pPr indent="0" marL="0">
              <a:buNone/>
            </a:pPr>
            <a:r>
              <a:rPr lang="en-US" sz="1700" dirty="0">
                <a:solidFill>
                  <a:srgbClr val="23303C"/>
                </a:solidFill>
                <a:latin typeface="Calibri" pitchFamily="34" charset="0"/>
                <a:ea typeface="Calibri" pitchFamily="34" charset="-122"/>
                <a:cs typeface="Calibri" pitchFamily="34" charset="-120"/>
              </a:rPr>
              <a:t>Abstraction, inheritance, polymorphism, encapsulation, collections, files, GUI.</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8808415" cy="822960"/>
          </a:xfrm>
          <a:prstGeom prst="rect">
            <a:avLst/>
          </a:prstGeom>
          <a:noFill/>
          <a:ln/>
        </p:spPr>
        <p:txBody>
          <a:bodyPr wrap="square" lIns="0" tIns="0" rIns="0" bIns="0" rtlCol="0" anchor="t"/>
          <a:lstStyle/>
          <a:p>
            <a:pPr algn="l" indent="0" marL="0">
              <a:buNone/>
            </a:pPr>
            <a:r>
              <a:rPr lang="en-US" sz="2600" b="1" dirty="0">
                <a:solidFill>
                  <a:srgbClr val="0B2545"/>
                </a:solidFill>
                <a:latin typeface="Calibri" pitchFamily="34" charset="0"/>
                <a:ea typeface="Calibri" pitchFamily="34" charset="-122"/>
                <a:cs typeface="Calibri" pitchFamily="34" charset="-120"/>
              </a:rPr>
              <a:t>The user builds a fleet, GridWise runs 24 hours, the report gives a verdict.</a:t>
            </a:r>
            <a:endParaRPr lang="en-US" sz="2600" dirty="0"/>
          </a:p>
        </p:txBody>
      </p:sp>
      <p:sp>
        <p:nvSpPr>
          <p:cNvPr id="3" name="Text 1"/>
          <p:cNvSpPr/>
          <p:nvPr/>
        </p:nvSpPr>
        <p:spPr>
          <a:xfrm>
            <a:off x="9448495" y="384048"/>
            <a:ext cx="2194560" cy="274320"/>
          </a:xfrm>
          <a:prstGeom prst="rect">
            <a:avLst/>
          </a:prstGeom>
          <a:noFill/>
          <a:ln/>
        </p:spPr>
        <p:txBody>
          <a:bodyPr wrap="square" lIns="0" tIns="0" rIns="0" bIns="0" rtlCol="0" anchor="ctr"/>
          <a:lstStyle/>
          <a:p>
            <a:pPr algn="r" indent="0" marL="0">
              <a:buNone/>
            </a:pPr>
            <a:r>
              <a:rPr lang="en-US" sz="1100" dirty="0">
                <a:solidFill>
                  <a:srgbClr val="5A6B7C"/>
                </a:solidFill>
                <a:latin typeface="Calibri" pitchFamily="34" charset="0"/>
                <a:ea typeface="Calibri" pitchFamily="34" charset="-122"/>
                <a:cs typeface="Calibri" pitchFamily="34" charset="-120"/>
              </a:rPr>
              <a:t>Member 1  ·  1:35 - 2:10</a:t>
            </a:r>
            <a:endParaRPr lang="en-US" sz="1100" dirty="0"/>
          </a:p>
        </p:txBody>
      </p:sp>
      <p:sp>
        <p:nvSpPr>
          <p:cNvPr id="4" name="Shape 2"/>
          <p:cNvSpPr/>
          <p:nvPr/>
        </p:nvSpPr>
        <p:spPr>
          <a:xfrm>
            <a:off x="548640" y="1645920"/>
            <a:ext cx="3639312" cy="3246120"/>
          </a:xfrm>
          <a:prstGeom prst="roundRect">
            <a:avLst>
              <a:gd name="adj" fmla="val 2254"/>
            </a:avLst>
          </a:prstGeom>
          <a:solidFill>
            <a:srgbClr val="EEF2F6"/>
          </a:solidFill>
          <a:ln w="12700">
            <a:solidFill>
              <a:srgbClr val="EEF2F6"/>
            </a:solidFill>
            <a:prstDash val="solid"/>
          </a:ln>
        </p:spPr>
      </p:sp>
      <p:sp>
        <p:nvSpPr>
          <p:cNvPr id="5" name="Text 3"/>
          <p:cNvSpPr/>
          <p:nvPr/>
        </p:nvSpPr>
        <p:spPr>
          <a:xfrm>
            <a:off x="822960" y="1828800"/>
            <a:ext cx="548640" cy="457200"/>
          </a:xfrm>
          <a:prstGeom prst="rect">
            <a:avLst/>
          </a:prstGeom>
          <a:noFill/>
          <a:ln/>
        </p:spPr>
        <p:txBody>
          <a:bodyPr wrap="square" lIns="0" tIns="0" rIns="0" bIns="0" rtlCol="0" anchor="ctr"/>
          <a:lstStyle/>
          <a:p>
            <a:pPr indent="0" marL="0">
              <a:buNone/>
            </a:pPr>
            <a:r>
              <a:rPr lang="en-US" sz="2600" b="1" dirty="0">
                <a:solidFill>
                  <a:srgbClr val="1B998B"/>
                </a:solidFill>
                <a:latin typeface="Calibri" pitchFamily="34" charset="0"/>
                <a:ea typeface="Calibri" pitchFamily="34" charset="-122"/>
                <a:cs typeface="Calibri" pitchFamily="34" charset="-120"/>
              </a:rPr>
              <a:t>1</a:t>
            </a:r>
            <a:endParaRPr lang="en-US" sz="2600" dirty="0"/>
          </a:p>
        </p:txBody>
      </p:sp>
      <p:sp>
        <p:nvSpPr>
          <p:cNvPr id="6" name="Text 4"/>
          <p:cNvSpPr/>
          <p:nvPr/>
        </p:nvSpPr>
        <p:spPr>
          <a:xfrm>
            <a:off x="1325880" y="1883664"/>
            <a:ext cx="2633472" cy="411480"/>
          </a:xfrm>
          <a:prstGeom prst="rect">
            <a:avLst/>
          </a:prstGeom>
          <a:noFill/>
          <a:ln/>
        </p:spPr>
        <p:txBody>
          <a:bodyPr wrap="square" lIns="0" tIns="0" rIns="0" bIns="0" rtlCol="0" anchor="ctr"/>
          <a:lstStyle/>
          <a:p>
            <a:pPr indent="0" marL="0">
              <a:buNone/>
            </a:pPr>
            <a:r>
              <a:rPr lang="en-US" sz="2000" b="1" dirty="0">
                <a:solidFill>
                  <a:srgbClr val="0B2545"/>
                </a:solidFill>
                <a:latin typeface="Calibri" pitchFamily="34" charset="0"/>
                <a:ea typeface="Calibri" pitchFamily="34" charset="-122"/>
                <a:cs typeface="Calibri" pitchFamily="34" charset="-120"/>
              </a:rPr>
              <a:t>BUILD</a:t>
            </a:r>
            <a:endParaRPr lang="en-US" sz="2000" dirty="0"/>
          </a:p>
        </p:txBody>
      </p:sp>
      <p:sp>
        <p:nvSpPr>
          <p:cNvPr id="7" name="Text 5"/>
          <p:cNvSpPr/>
          <p:nvPr/>
        </p:nvSpPr>
        <p:spPr>
          <a:xfrm>
            <a:off x="822960" y="2514600"/>
            <a:ext cx="3090672" cy="21945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23303C"/>
                </a:solidFill>
                <a:latin typeface="Calibri" pitchFamily="34" charset="0"/>
                <a:ea typeface="Calibri" pitchFamily="34" charset="-122"/>
                <a:cs typeface="Calibri" pitchFamily="34" charset="-120"/>
              </a:rPr>
              <a:t>Name the city, set its peak demand</a:t>
            </a:r>
            <a:endParaRPr lang="en-US" sz="1500" dirty="0"/>
          </a:p>
          <a:p>
            <a:pPr marL="342900" indent="-342900">
              <a:spcAft>
                <a:spcPts val="1000"/>
              </a:spcAft>
              <a:buSzPct val="100000"/>
              <a:buChar char="•"/>
            </a:pPr>
            <a:r>
              <a:rPr lang="en-US" sz="1500" dirty="0">
                <a:solidFill>
                  <a:srgbClr val="23303C"/>
                </a:solidFill>
                <a:latin typeface="Calibri" pitchFamily="34" charset="0"/>
                <a:ea typeface="Calibri" pitchFamily="34" charset="-122"/>
                <a:cs typeface="Calibri" pitchFamily="34" charset="-120"/>
              </a:rPr>
              <a:t>Add solar, wind, hydro or gas units</a:t>
            </a:r>
            <a:endParaRPr lang="en-US" sz="1500" dirty="0"/>
          </a:p>
          <a:p>
            <a:pPr marL="342900" indent="-342900">
              <a:spcAft>
                <a:spcPts val="1000"/>
              </a:spcAft>
              <a:buSzPct val="100000"/>
              <a:buChar char="•"/>
            </a:pPr>
            <a:r>
              <a:rPr lang="en-US" sz="1500" dirty="0">
                <a:solidFill>
                  <a:srgbClr val="23303C"/>
                </a:solidFill>
                <a:latin typeface="Calibri" pitchFamily="34" charset="0"/>
                <a:ea typeface="Calibri" pitchFamily="34" charset="-122"/>
                <a:cs typeface="Calibri" pitchFamily="34" charset="-120"/>
              </a:rPr>
              <a:t>Or load one of six real-world example grids</a:t>
            </a:r>
            <a:endParaRPr lang="en-US" sz="1500" dirty="0"/>
          </a:p>
        </p:txBody>
      </p:sp>
      <p:sp>
        <p:nvSpPr>
          <p:cNvPr id="8" name="Shape 6"/>
          <p:cNvSpPr/>
          <p:nvPr/>
        </p:nvSpPr>
        <p:spPr>
          <a:xfrm>
            <a:off x="4553712" y="1645920"/>
            <a:ext cx="3639312" cy="3246120"/>
          </a:xfrm>
          <a:prstGeom prst="roundRect">
            <a:avLst>
              <a:gd name="adj" fmla="val 2254"/>
            </a:avLst>
          </a:prstGeom>
          <a:solidFill>
            <a:srgbClr val="EEF2F6"/>
          </a:solidFill>
          <a:ln w="12700">
            <a:solidFill>
              <a:srgbClr val="EEF2F6"/>
            </a:solidFill>
            <a:prstDash val="solid"/>
          </a:ln>
        </p:spPr>
      </p:sp>
      <p:sp>
        <p:nvSpPr>
          <p:cNvPr id="9" name="Text 7"/>
          <p:cNvSpPr/>
          <p:nvPr/>
        </p:nvSpPr>
        <p:spPr>
          <a:xfrm>
            <a:off x="4828032" y="1828800"/>
            <a:ext cx="548640" cy="457200"/>
          </a:xfrm>
          <a:prstGeom prst="rect">
            <a:avLst/>
          </a:prstGeom>
          <a:noFill/>
          <a:ln/>
        </p:spPr>
        <p:txBody>
          <a:bodyPr wrap="square" lIns="0" tIns="0" rIns="0" bIns="0" rtlCol="0" anchor="ctr"/>
          <a:lstStyle/>
          <a:p>
            <a:pPr indent="0" marL="0">
              <a:buNone/>
            </a:pPr>
            <a:r>
              <a:rPr lang="en-US" sz="2600" b="1" dirty="0">
                <a:solidFill>
                  <a:srgbClr val="F4A300"/>
                </a:solidFill>
                <a:latin typeface="Calibri" pitchFamily="34" charset="0"/>
                <a:ea typeface="Calibri" pitchFamily="34" charset="-122"/>
                <a:cs typeface="Calibri" pitchFamily="34" charset="-120"/>
              </a:rPr>
              <a:t>2</a:t>
            </a:r>
            <a:endParaRPr lang="en-US" sz="2600" dirty="0"/>
          </a:p>
        </p:txBody>
      </p:sp>
      <p:sp>
        <p:nvSpPr>
          <p:cNvPr id="10" name="Text 8"/>
          <p:cNvSpPr/>
          <p:nvPr/>
        </p:nvSpPr>
        <p:spPr>
          <a:xfrm>
            <a:off x="5330952" y="1883664"/>
            <a:ext cx="2633472" cy="411480"/>
          </a:xfrm>
          <a:prstGeom prst="rect">
            <a:avLst/>
          </a:prstGeom>
          <a:noFill/>
          <a:ln/>
        </p:spPr>
        <p:txBody>
          <a:bodyPr wrap="square" lIns="0" tIns="0" rIns="0" bIns="0" rtlCol="0" anchor="ctr"/>
          <a:lstStyle/>
          <a:p>
            <a:pPr indent="0" marL="0">
              <a:buNone/>
            </a:pPr>
            <a:r>
              <a:rPr lang="en-US" sz="2000" b="1" dirty="0">
                <a:solidFill>
                  <a:srgbClr val="0B2545"/>
                </a:solidFill>
                <a:latin typeface="Calibri" pitchFamily="34" charset="0"/>
                <a:ea typeface="Calibri" pitchFamily="34" charset="-122"/>
                <a:cs typeface="Calibri" pitchFamily="34" charset="-120"/>
              </a:rPr>
              <a:t>SIMULATE</a:t>
            </a:r>
            <a:endParaRPr lang="en-US" sz="2000" dirty="0"/>
          </a:p>
        </p:txBody>
      </p:sp>
      <p:sp>
        <p:nvSpPr>
          <p:cNvPr id="11" name="Text 9"/>
          <p:cNvSpPr/>
          <p:nvPr/>
        </p:nvSpPr>
        <p:spPr>
          <a:xfrm>
            <a:off x="4828032" y="2514600"/>
            <a:ext cx="3090672" cy="21945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23303C"/>
                </a:solidFill>
                <a:latin typeface="Calibri" pitchFamily="34" charset="0"/>
                <a:ea typeface="Calibri" pitchFamily="34" charset="-122"/>
                <a:cs typeface="Calibri" pitchFamily="34" charset="-120"/>
              </a:rPr>
              <a:t>24 hourly steps, one full day</a:t>
            </a:r>
            <a:endParaRPr lang="en-US" sz="1500" dirty="0"/>
          </a:p>
          <a:p>
            <a:pPr marL="342900" indent="-342900">
              <a:spcAft>
                <a:spcPts val="1000"/>
              </a:spcAft>
              <a:buSzPct val="100000"/>
              <a:buChar char="•"/>
            </a:pPr>
            <a:r>
              <a:rPr lang="en-US" sz="1500" dirty="0">
                <a:solidFill>
                  <a:srgbClr val="23303C"/>
                </a:solidFill>
                <a:latin typeface="Calibri" pitchFamily="34" charset="0"/>
                <a:ea typeface="Calibri" pitchFamily="34" charset="-122"/>
                <a:cs typeface="Calibri" pitchFamily="34" charset="-120"/>
              </a:rPr>
              <a:t>Demand curve + random hourly wind</a:t>
            </a:r>
            <a:endParaRPr lang="en-US" sz="1500" dirty="0"/>
          </a:p>
          <a:p>
            <a:pPr marL="342900" indent="-342900">
              <a:spcAft>
                <a:spcPts val="1000"/>
              </a:spcAft>
              <a:buSzPct val="100000"/>
              <a:buChar char="•"/>
            </a:pPr>
            <a:r>
              <a:rPr lang="en-US" sz="1500" dirty="0">
                <a:solidFill>
                  <a:srgbClr val="23303C"/>
                </a:solidFill>
                <a:latin typeface="Calibri" pitchFamily="34" charset="0"/>
                <a:ea typeface="Calibri" pitchFamily="34" charset="-122"/>
                <a:cs typeface="Calibri" pitchFamily="34" charset="-120"/>
              </a:rPr>
              <a:t>Merit order: clean and cheap runs first</a:t>
            </a:r>
            <a:endParaRPr lang="en-US" sz="1500" dirty="0"/>
          </a:p>
        </p:txBody>
      </p:sp>
      <p:sp>
        <p:nvSpPr>
          <p:cNvPr id="12" name="Shape 10"/>
          <p:cNvSpPr/>
          <p:nvPr/>
        </p:nvSpPr>
        <p:spPr>
          <a:xfrm>
            <a:off x="8558784" y="1645920"/>
            <a:ext cx="3639312" cy="3246120"/>
          </a:xfrm>
          <a:prstGeom prst="roundRect">
            <a:avLst>
              <a:gd name="adj" fmla="val 2254"/>
            </a:avLst>
          </a:prstGeom>
          <a:solidFill>
            <a:srgbClr val="EEF2F6"/>
          </a:solidFill>
          <a:ln w="12700">
            <a:solidFill>
              <a:srgbClr val="EEF2F6"/>
            </a:solidFill>
            <a:prstDash val="solid"/>
          </a:ln>
        </p:spPr>
      </p:sp>
      <p:sp>
        <p:nvSpPr>
          <p:cNvPr id="13" name="Text 11"/>
          <p:cNvSpPr/>
          <p:nvPr/>
        </p:nvSpPr>
        <p:spPr>
          <a:xfrm>
            <a:off x="8833104" y="1828800"/>
            <a:ext cx="548640" cy="457200"/>
          </a:xfrm>
          <a:prstGeom prst="rect">
            <a:avLst/>
          </a:prstGeom>
          <a:noFill/>
          <a:ln/>
        </p:spPr>
        <p:txBody>
          <a:bodyPr wrap="square" lIns="0" tIns="0" rIns="0" bIns="0" rtlCol="0" anchor="ctr"/>
          <a:lstStyle/>
          <a:p>
            <a:pPr indent="0" marL="0">
              <a:buNone/>
            </a:pPr>
            <a:r>
              <a:rPr lang="en-US" sz="2600" b="1" dirty="0">
                <a:solidFill>
                  <a:srgbClr val="0B2545"/>
                </a:solidFill>
                <a:latin typeface="Calibri" pitchFamily="34" charset="0"/>
                <a:ea typeface="Calibri" pitchFamily="34" charset="-122"/>
                <a:cs typeface="Calibri" pitchFamily="34" charset="-120"/>
              </a:rPr>
              <a:t>3</a:t>
            </a:r>
            <a:endParaRPr lang="en-US" sz="2600" dirty="0"/>
          </a:p>
        </p:txBody>
      </p:sp>
      <p:sp>
        <p:nvSpPr>
          <p:cNvPr id="14" name="Text 12"/>
          <p:cNvSpPr/>
          <p:nvPr/>
        </p:nvSpPr>
        <p:spPr>
          <a:xfrm>
            <a:off x="9336024" y="1883664"/>
            <a:ext cx="2633472" cy="411480"/>
          </a:xfrm>
          <a:prstGeom prst="rect">
            <a:avLst/>
          </a:prstGeom>
          <a:noFill/>
          <a:ln/>
        </p:spPr>
        <p:txBody>
          <a:bodyPr wrap="square" lIns="0" tIns="0" rIns="0" bIns="0" rtlCol="0" anchor="ctr"/>
          <a:lstStyle/>
          <a:p>
            <a:pPr indent="0" marL="0">
              <a:buNone/>
            </a:pPr>
            <a:r>
              <a:rPr lang="en-US" sz="2000" b="1" dirty="0">
                <a:solidFill>
                  <a:srgbClr val="0B2545"/>
                </a:solidFill>
                <a:latin typeface="Calibri" pitchFamily="34" charset="0"/>
                <a:ea typeface="Calibri" pitchFamily="34" charset="-122"/>
                <a:cs typeface="Calibri" pitchFamily="34" charset="-120"/>
              </a:rPr>
              <a:t>DECIDE</a:t>
            </a:r>
            <a:endParaRPr lang="en-US" sz="2000" dirty="0"/>
          </a:p>
        </p:txBody>
      </p:sp>
      <p:sp>
        <p:nvSpPr>
          <p:cNvPr id="15" name="Text 13"/>
          <p:cNvSpPr/>
          <p:nvPr/>
        </p:nvSpPr>
        <p:spPr>
          <a:xfrm>
            <a:off x="8833104" y="2514600"/>
            <a:ext cx="3090672" cy="21945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23303C"/>
                </a:solidFill>
                <a:latin typeface="Calibri" pitchFamily="34" charset="0"/>
                <a:ea typeface="Calibri" pitchFamily="34" charset="-122"/>
                <a:cs typeface="Calibri" pitchFamily="34" charset="-120"/>
              </a:rPr>
              <a:t>Cost, CO₂, renewable %, blackout hours</a:t>
            </a:r>
            <a:endParaRPr lang="en-US" sz="1500" dirty="0"/>
          </a:p>
          <a:p>
            <a:pPr marL="342900" indent="-342900">
              <a:spcAft>
                <a:spcPts val="1000"/>
              </a:spcAft>
              <a:buSzPct val="100000"/>
              <a:buChar char="•"/>
            </a:pPr>
            <a:r>
              <a:rPr lang="en-US" sz="1500" dirty="0">
                <a:solidFill>
                  <a:srgbClr val="23303C"/>
                </a:solidFill>
                <a:latin typeface="Calibri" pitchFamily="34" charset="0"/>
                <a:ea typeface="Calibri" pitchFamily="34" charset="-122"/>
                <a:cs typeface="Calibri" pitchFamily="34" charset="-120"/>
              </a:rPr>
              <a:t>Hour-by-hour supply vs demand chart</a:t>
            </a:r>
            <a:endParaRPr lang="en-US" sz="1500" dirty="0"/>
          </a:p>
          <a:p>
            <a:pPr marL="342900" indent="-342900">
              <a:spcAft>
                <a:spcPts val="1000"/>
              </a:spcAft>
              <a:buSzPct val="100000"/>
              <a:buChar char="•"/>
            </a:pPr>
            <a:r>
              <a:rPr lang="en-US" sz="1500" dirty="0">
                <a:solidFill>
                  <a:srgbClr val="23303C"/>
                </a:solidFill>
                <a:latin typeface="Calibri" pitchFamily="34" charset="0"/>
                <a:ea typeface="Calibri" pitchFamily="34" charset="-122"/>
                <a:cs typeface="Calibri" pitchFamily="34" charset="-120"/>
              </a:rPr>
              <a:t>A written recommendation, and export</a:t>
            </a:r>
            <a:endParaRPr lang="en-US" sz="1500" dirty="0"/>
          </a:p>
        </p:txBody>
      </p:sp>
      <p:sp>
        <p:nvSpPr>
          <p:cNvPr id="16" name="Text 14"/>
          <p:cNvSpPr/>
          <p:nvPr/>
        </p:nvSpPr>
        <p:spPr>
          <a:xfrm>
            <a:off x="548640" y="5120640"/>
            <a:ext cx="11094415" cy="365760"/>
          </a:xfrm>
          <a:prstGeom prst="rect">
            <a:avLst/>
          </a:prstGeom>
          <a:noFill/>
          <a:ln/>
        </p:spPr>
        <p:txBody>
          <a:bodyPr wrap="square" lIns="0" tIns="0" rIns="0" bIns="0" rtlCol="0" anchor="ctr"/>
          <a:lstStyle/>
          <a:p>
            <a:pPr indent="0" marL="0">
              <a:buNone/>
            </a:pPr>
            <a:r>
              <a:rPr lang="en-US" sz="1500" i="1" dirty="0">
                <a:solidFill>
                  <a:srgbClr val="0B2545"/>
                </a:solidFill>
                <a:latin typeface="Calibri" pitchFamily="34" charset="0"/>
                <a:ea typeface="Calibri" pitchFamily="34" charset="-122"/>
                <a:cs typeface="Calibri" pitchFamily="34" charset="-120"/>
              </a:rPr>
              <a:t>Nothing is stored and echoed back: every number on the report is computed by the simulator from the fleet you built.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8808415" cy="822960"/>
          </a:xfrm>
          <a:prstGeom prst="rect">
            <a:avLst/>
          </a:prstGeom>
          <a:noFill/>
          <a:ln/>
        </p:spPr>
        <p:txBody>
          <a:bodyPr wrap="square" lIns="0" tIns="0" rIns="0" bIns="0" rtlCol="0" anchor="t"/>
          <a:lstStyle/>
          <a:p>
            <a:pPr algn="l" indent="0" marL="0">
              <a:buNone/>
            </a:pPr>
            <a:r>
              <a:rPr lang="en-US" sz="2600" b="1" dirty="0">
                <a:solidFill>
                  <a:srgbClr val="0B2545"/>
                </a:solidFill>
                <a:latin typeface="Calibri" pitchFamily="34" charset="0"/>
                <a:ea typeface="Calibri" pitchFamily="34" charset="-122"/>
                <a:cs typeface="Calibri" pitchFamily="34" charset="-120"/>
              </a:rPr>
              <a:t>Four packages keep the model, the logic and the screen independent.</a:t>
            </a:r>
            <a:endParaRPr lang="en-US" sz="2600" dirty="0"/>
          </a:p>
        </p:txBody>
      </p:sp>
      <p:sp>
        <p:nvSpPr>
          <p:cNvPr id="3" name="Text 1"/>
          <p:cNvSpPr/>
          <p:nvPr/>
        </p:nvSpPr>
        <p:spPr>
          <a:xfrm>
            <a:off x="9448495" y="384048"/>
            <a:ext cx="2194560" cy="274320"/>
          </a:xfrm>
          <a:prstGeom prst="rect">
            <a:avLst/>
          </a:prstGeom>
          <a:noFill/>
          <a:ln/>
        </p:spPr>
        <p:txBody>
          <a:bodyPr wrap="square" lIns="0" tIns="0" rIns="0" bIns="0" rtlCol="0" anchor="ctr"/>
          <a:lstStyle/>
          <a:p>
            <a:pPr algn="r" indent="0" marL="0">
              <a:buNone/>
            </a:pPr>
            <a:r>
              <a:rPr lang="en-US" sz="1100" dirty="0">
                <a:solidFill>
                  <a:srgbClr val="5A6B7C"/>
                </a:solidFill>
                <a:latin typeface="Calibri" pitchFamily="34" charset="0"/>
                <a:ea typeface="Calibri" pitchFamily="34" charset="-122"/>
                <a:cs typeface="Calibri" pitchFamily="34" charset="-120"/>
              </a:rPr>
              <a:t>Member 2  ·  2:10 - 2:50</a:t>
            </a:r>
            <a:endParaRPr lang="en-US" sz="1100" dirty="0"/>
          </a:p>
        </p:txBody>
      </p:sp>
      <p:sp>
        <p:nvSpPr>
          <p:cNvPr id="4" name="Shape 2"/>
          <p:cNvSpPr/>
          <p:nvPr/>
        </p:nvSpPr>
        <p:spPr>
          <a:xfrm>
            <a:off x="548640" y="1645920"/>
            <a:ext cx="7863840" cy="896112"/>
          </a:xfrm>
          <a:prstGeom prst="roundRect">
            <a:avLst>
              <a:gd name="adj" fmla="val 8163"/>
            </a:avLst>
          </a:prstGeom>
          <a:solidFill>
            <a:srgbClr val="EEF2F6"/>
          </a:solidFill>
          <a:ln w="12700">
            <a:solidFill>
              <a:srgbClr val="EEF2F6"/>
            </a:solidFill>
            <a:prstDash val="solid"/>
          </a:ln>
        </p:spPr>
      </p:sp>
      <p:sp>
        <p:nvSpPr>
          <p:cNvPr id="5" name="Text 3"/>
          <p:cNvSpPr/>
          <p:nvPr/>
        </p:nvSpPr>
        <p:spPr>
          <a:xfrm>
            <a:off x="822960" y="1737360"/>
            <a:ext cx="1371600" cy="365760"/>
          </a:xfrm>
          <a:prstGeom prst="rect">
            <a:avLst/>
          </a:prstGeom>
          <a:noFill/>
          <a:ln/>
        </p:spPr>
        <p:txBody>
          <a:bodyPr wrap="square" lIns="0" tIns="0" rIns="0" bIns="0" rtlCol="0" anchor="ctr"/>
          <a:lstStyle/>
          <a:p>
            <a:pPr indent="0" marL="0">
              <a:buNone/>
            </a:pPr>
            <a:r>
              <a:rPr lang="en-US" sz="1900" b="1" dirty="0">
                <a:solidFill>
                  <a:srgbClr val="0B2545"/>
                </a:solidFill>
                <a:latin typeface="Calibri" pitchFamily="34" charset="0"/>
                <a:ea typeface="Calibri" pitchFamily="34" charset="-122"/>
                <a:cs typeface="Calibri" pitchFamily="34" charset="-120"/>
              </a:rPr>
              <a:t>app</a:t>
            </a:r>
            <a:endParaRPr lang="en-US" sz="1900" dirty="0"/>
          </a:p>
        </p:txBody>
      </p:sp>
      <p:sp>
        <p:nvSpPr>
          <p:cNvPr id="6" name="Text 4"/>
          <p:cNvSpPr/>
          <p:nvPr/>
        </p:nvSpPr>
        <p:spPr>
          <a:xfrm>
            <a:off x="822960" y="2121408"/>
            <a:ext cx="1371600" cy="274320"/>
          </a:xfrm>
          <a:prstGeom prst="rect">
            <a:avLst/>
          </a:prstGeom>
          <a:noFill/>
          <a:ln/>
        </p:spPr>
        <p:txBody>
          <a:bodyPr wrap="square" lIns="0" tIns="0" rIns="0" bIns="0" rtlCol="0" anchor="ctr"/>
          <a:lstStyle/>
          <a:p>
            <a:pPr indent="0" marL="0">
              <a:buNone/>
            </a:pPr>
            <a:r>
              <a:rPr lang="en-US" sz="1200" dirty="0">
                <a:solidFill>
                  <a:srgbClr val="5A6B7C"/>
                </a:solidFill>
                <a:latin typeface="Calibri" pitchFamily="34" charset="0"/>
                <a:ea typeface="Calibri" pitchFamily="34" charset="-122"/>
                <a:cs typeface="Calibri" pitchFamily="34" charset="-120"/>
              </a:rPr>
              <a:t>1 class</a:t>
            </a:r>
            <a:endParaRPr lang="en-US" sz="1200" dirty="0"/>
          </a:p>
        </p:txBody>
      </p:sp>
      <p:sp>
        <p:nvSpPr>
          <p:cNvPr id="7" name="Text 5"/>
          <p:cNvSpPr/>
          <p:nvPr/>
        </p:nvSpPr>
        <p:spPr>
          <a:xfrm>
            <a:off x="2286000" y="1773936"/>
            <a:ext cx="5943600" cy="640080"/>
          </a:xfrm>
          <a:prstGeom prst="rect">
            <a:avLst/>
          </a:prstGeom>
          <a:noFill/>
          <a:ln/>
        </p:spPr>
        <p:txBody>
          <a:bodyPr wrap="square" lIns="0" tIns="0" rIns="0" bIns="0" rtlCol="0" anchor="ctr"/>
          <a:lstStyle/>
          <a:p>
            <a:pPr indent="0" marL="0">
              <a:lnSpc>
                <a:spcPts val="1600"/>
              </a:lnSpc>
              <a:buNone/>
            </a:pPr>
            <a:r>
              <a:rPr lang="en-US" sz="1300" dirty="0">
                <a:solidFill>
                  <a:srgbClr val="23303C"/>
                </a:solidFill>
                <a:latin typeface="Calibri" pitchFamily="34" charset="0"/>
                <a:ea typeface="Calibri" pitchFamily="34" charset="-122"/>
                <a:cs typeface="Calibri" pitchFamily="34" charset="-120"/>
              </a:rPr>
              <a:t>Main - starts the Swing event thread</a:t>
            </a:r>
            <a:endParaRPr lang="en-US" sz="1300" dirty="0"/>
          </a:p>
        </p:txBody>
      </p:sp>
      <p:sp>
        <p:nvSpPr>
          <p:cNvPr id="8" name="Shape 6"/>
          <p:cNvSpPr/>
          <p:nvPr/>
        </p:nvSpPr>
        <p:spPr>
          <a:xfrm>
            <a:off x="548640" y="2688336"/>
            <a:ext cx="7863840" cy="896112"/>
          </a:xfrm>
          <a:prstGeom prst="roundRect">
            <a:avLst>
              <a:gd name="adj" fmla="val 8163"/>
            </a:avLst>
          </a:prstGeom>
          <a:solidFill>
            <a:srgbClr val="EEF2F6"/>
          </a:solidFill>
          <a:ln w="12700">
            <a:solidFill>
              <a:srgbClr val="EEF2F6"/>
            </a:solidFill>
            <a:prstDash val="solid"/>
          </a:ln>
        </p:spPr>
      </p:sp>
      <p:sp>
        <p:nvSpPr>
          <p:cNvPr id="9" name="Text 7"/>
          <p:cNvSpPr/>
          <p:nvPr/>
        </p:nvSpPr>
        <p:spPr>
          <a:xfrm>
            <a:off x="822960" y="2779776"/>
            <a:ext cx="1371600" cy="365760"/>
          </a:xfrm>
          <a:prstGeom prst="rect">
            <a:avLst/>
          </a:prstGeom>
          <a:noFill/>
          <a:ln/>
        </p:spPr>
        <p:txBody>
          <a:bodyPr wrap="square" lIns="0" tIns="0" rIns="0" bIns="0" rtlCol="0" anchor="ctr"/>
          <a:lstStyle/>
          <a:p>
            <a:pPr indent="0" marL="0">
              <a:buNone/>
            </a:pPr>
            <a:r>
              <a:rPr lang="en-US" sz="1900" b="1" dirty="0">
                <a:solidFill>
                  <a:srgbClr val="1B998B"/>
                </a:solidFill>
                <a:latin typeface="Calibri" pitchFamily="34" charset="0"/>
                <a:ea typeface="Calibri" pitchFamily="34" charset="-122"/>
                <a:cs typeface="Calibri" pitchFamily="34" charset="-120"/>
              </a:rPr>
              <a:t>ui</a:t>
            </a:r>
            <a:endParaRPr lang="en-US" sz="1900" dirty="0"/>
          </a:p>
        </p:txBody>
      </p:sp>
      <p:sp>
        <p:nvSpPr>
          <p:cNvPr id="10" name="Text 8"/>
          <p:cNvSpPr/>
          <p:nvPr/>
        </p:nvSpPr>
        <p:spPr>
          <a:xfrm>
            <a:off x="822960" y="3163824"/>
            <a:ext cx="1371600" cy="274320"/>
          </a:xfrm>
          <a:prstGeom prst="rect">
            <a:avLst/>
          </a:prstGeom>
          <a:noFill/>
          <a:ln/>
        </p:spPr>
        <p:txBody>
          <a:bodyPr wrap="square" lIns="0" tIns="0" rIns="0" bIns="0" rtlCol="0" anchor="ctr"/>
          <a:lstStyle/>
          <a:p>
            <a:pPr indent="0" marL="0">
              <a:buNone/>
            </a:pPr>
            <a:r>
              <a:rPr lang="en-US" sz="1200" dirty="0">
                <a:solidFill>
                  <a:srgbClr val="5A6B7C"/>
                </a:solidFill>
                <a:latin typeface="Calibri" pitchFamily="34" charset="0"/>
                <a:ea typeface="Calibri" pitchFamily="34" charset="-122"/>
                <a:cs typeface="Calibri" pitchFamily="34" charset="-120"/>
              </a:rPr>
              <a:t>8 classes</a:t>
            </a:r>
            <a:endParaRPr lang="en-US" sz="1200" dirty="0"/>
          </a:p>
        </p:txBody>
      </p:sp>
      <p:sp>
        <p:nvSpPr>
          <p:cNvPr id="11" name="Text 9"/>
          <p:cNvSpPr/>
          <p:nvPr/>
        </p:nvSpPr>
        <p:spPr>
          <a:xfrm>
            <a:off x="2286000" y="2816352"/>
            <a:ext cx="5943600" cy="640080"/>
          </a:xfrm>
          <a:prstGeom prst="rect">
            <a:avLst/>
          </a:prstGeom>
          <a:noFill/>
          <a:ln/>
        </p:spPr>
        <p:txBody>
          <a:bodyPr wrap="square" lIns="0" tIns="0" rIns="0" bIns="0" rtlCol="0" anchor="ctr"/>
          <a:lstStyle/>
          <a:p>
            <a:pPr indent="0" marL="0">
              <a:lnSpc>
                <a:spcPts val="1600"/>
              </a:lnSpc>
              <a:buNone/>
            </a:pPr>
            <a:r>
              <a:rPr lang="en-US" sz="1300" dirty="0">
                <a:solidFill>
                  <a:srgbClr val="23303C"/>
                </a:solidFill>
                <a:latin typeface="Calibri" pitchFamily="34" charset="0"/>
                <a:ea typeface="Calibri" pitchFamily="34" charset="-122"/>
                <a:cs typeface="Calibri" pitchFamily="34" charset="-120"/>
              </a:rPr>
              <a:t>MainWindow, SetupPanel, SimulationPanel, ChartPanel, Theme, AppLogo, RoundedPanel, CenteredPanel</a:t>
            </a:r>
            <a:endParaRPr lang="en-US" sz="1300" dirty="0"/>
          </a:p>
        </p:txBody>
      </p:sp>
      <p:sp>
        <p:nvSpPr>
          <p:cNvPr id="12" name="Shape 10"/>
          <p:cNvSpPr/>
          <p:nvPr/>
        </p:nvSpPr>
        <p:spPr>
          <a:xfrm>
            <a:off x="548640" y="3730752"/>
            <a:ext cx="7863840" cy="896112"/>
          </a:xfrm>
          <a:prstGeom prst="roundRect">
            <a:avLst>
              <a:gd name="adj" fmla="val 8163"/>
            </a:avLst>
          </a:prstGeom>
          <a:solidFill>
            <a:srgbClr val="EEF2F6"/>
          </a:solidFill>
          <a:ln w="12700">
            <a:solidFill>
              <a:srgbClr val="EEF2F6"/>
            </a:solidFill>
            <a:prstDash val="solid"/>
          </a:ln>
        </p:spPr>
      </p:sp>
      <p:sp>
        <p:nvSpPr>
          <p:cNvPr id="13" name="Text 11"/>
          <p:cNvSpPr/>
          <p:nvPr/>
        </p:nvSpPr>
        <p:spPr>
          <a:xfrm>
            <a:off x="822960" y="3822192"/>
            <a:ext cx="1371600" cy="365760"/>
          </a:xfrm>
          <a:prstGeom prst="rect">
            <a:avLst/>
          </a:prstGeom>
          <a:noFill/>
          <a:ln/>
        </p:spPr>
        <p:txBody>
          <a:bodyPr wrap="square" lIns="0" tIns="0" rIns="0" bIns="0" rtlCol="0" anchor="ctr"/>
          <a:lstStyle/>
          <a:p>
            <a:pPr indent="0" marL="0">
              <a:buNone/>
            </a:pPr>
            <a:r>
              <a:rPr lang="en-US" sz="1900" b="1" dirty="0">
                <a:solidFill>
                  <a:srgbClr val="F4A300"/>
                </a:solidFill>
                <a:latin typeface="Calibri" pitchFamily="34" charset="0"/>
                <a:ea typeface="Calibri" pitchFamily="34" charset="-122"/>
                <a:cs typeface="Calibri" pitchFamily="34" charset="-120"/>
              </a:rPr>
              <a:t>service</a:t>
            </a:r>
            <a:endParaRPr lang="en-US" sz="1900" dirty="0"/>
          </a:p>
        </p:txBody>
      </p:sp>
      <p:sp>
        <p:nvSpPr>
          <p:cNvPr id="14" name="Text 12"/>
          <p:cNvSpPr/>
          <p:nvPr/>
        </p:nvSpPr>
        <p:spPr>
          <a:xfrm>
            <a:off x="822960" y="4206240"/>
            <a:ext cx="1371600" cy="274320"/>
          </a:xfrm>
          <a:prstGeom prst="rect">
            <a:avLst/>
          </a:prstGeom>
          <a:noFill/>
          <a:ln/>
        </p:spPr>
        <p:txBody>
          <a:bodyPr wrap="square" lIns="0" tIns="0" rIns="0" bIns="0" rtlCol="0" anchor="ctr"/>
          <a:lstStyle/>
          <a:p>
            <a:pPr indent="0" marL="0">
              <a:buNone/>
            </a:pPr>
            <a:r>
              <a:rPr lang="en-US" sz="1200" dirty="0">
                <a:solidFill>
                  <a:srgbClr val="5A6B7C"/>
                </a:solidFill>
                <a:latin typeface="Calibri" pitchFamily="34" charset="0"/>
                <a:ea typeface="Calibri" pitchFamily="34" charset="-122"/>
                <a:cs typeface="Calibri" pitchFamily="34" charset="-120"/>
              </a:rPr>
              <a:t>7 classes</a:t>
            </a:r>
            <a:endParaRPr lang="en-US" sz="1200" dirty="0"/>
          </a:p>
        </p:txBody>
      </p:sp>
      <p:sp>
        <p:nvSpPr>
          <p:cNvPr id="15" name="Text 13"/>
          <p:cNvSpPr/>
          <p:nvPr/>
        </p:nvSpPr>
        <p:spPr>
          <a:xfrm>
            <a:off x="2286000" y="3858768"/>
            <a:ext cx="5943600" cy="640080"/>
          </a:xfrm>
          <a:prstGeom prst="rect">
            <a:avLst/>
          </a:prstGeom>
          <a:noFill/>
          <a:ln/>
        </p:spPr>
        <p:txBody>
          <a:bodyPr wrap="square" lIns="0" tIns="0" rIns="0" bIns="0" rtlCol="0" anchor="ctr"/>
          <a:lstStyle/>
          <a:p>
            <a:pPr indent="0" marL="0">
              <a:lnSpc>
                <a:spcPts val="1600"/>
              </a:lnSpc>
              <a:buNone/>
            </a:pPr>
            <a:r>
              <a:rPr lang="en-US" sz="1300" dirty="0">
                <a:solidFill>
                  <a:srgbClr val="23303C"/>
                </a:solidFill>
                <a:latin typeface="Calibri" pitchFamily="34" charset="0"/>
                <a:ea typeface="Calibri" pitchFamily="34" charset="-122"/>
                <a:cs typeface="Calibri" pitchFamily="34" charset="-120"/>
              </a:rPr>
              <a:t>GridSimulator, SimulationReport, PresetLibrary, CurrencyConverter, DataStore, plus the nested Preset and Currency</a:t>
            </a:r>
            <a:endParaRPr lang="en-US" sz="1300" dirty="0"/>
          </a:p>
        </p:txBody>
      </p:sp>
      <p:sp>
        <p:nvSpPr>
          <p:cNvPr id="16" name="Shape 14"/>
          <p:cNvSpPr/>
          <p:nvPr/>
        </p:nvSpPr>
        <p:spPr>
          <a:xfrm>
            <a:off x="548640" y="4773168"/>
            <a:ext cx="7863840" cy="896112"/>
          </a:xfrm>
          <a:prstGeom prst="roundRect">
            <a:avLst>
              <a:gd name="adj" fmla="val 8163"/>
            </a:avLst>
          </a:prstGeom>
          <a:solidFill>
            <a:srgbClr val="EEF2F6"/>
          </a:solidFill>
          <a:ln w="12700">
            <a:solidFill>
              <a:srgbClr val="EEF2F6"/>
            </a:solidFill>
            <a:prstDash val="solid"/>
          </a:ln>
        </p:spPr>
      </p:sp>
      <p:sp>
        <p:nvSpPr>
          <p:cNvPr id="17" name="Text 15"/>
          <p:cNvSpPr/>
          <p:nvPr/>
        </p:nvSpPr>
        <p:spPr>
          <a:xfrm>
            <a:off x="822960" y="4864608"/>
            <a:ext cx="1371600" cy="365760"/>
          </a:xfrm>
          <a:prstGeom prst="rect">
            <a:avLst/>
          </a:prstGeom>
          <a:noFill/>
          <a:ln/>
        </p:spPr>
        <p:txBody>
          <a:bodyPr wrap="square" lIns="0" tIns="0" rIns="0" bIns="0" rtlCol="0" anchor="ctr"/>
          <a:lstStyle/>
          <a:p>
            <a:pPr indent="0" marL="0">
              <a:buNone/>
            </a:pPr>
            <a:r>
              <a:rPr lang="en-US" sz="1900" b="1" dirty="0">
                <a:solidFill>
                  <a:srgbClr val="0B2545"/>
                </a:solidFill>
                <a:latin typeface="Calibri" pitchFamily="34" charset="0"/>
                <a:ea typeface="Calibri" pitchFamily="34" charset="-122"/>
                <a:cs typeface="Calibri" pitchFamily="34" charset="-120"/>
              </a:rPr>
              <a:t>model</a:t>
            </a:r>
            <a:endParaRPr lang="en-US" sz="1900" dirty="0"/>
          </a:p>
        </p:txBody>
      </p:sp>
      <p:sp>
        <p:nvSpPr>
          <p:cNvPr id="18" name="Text 16"/>
          <p:cNvSpPr/>
          <p:nvPr/>
        </p:nvSpPr>
        <p:spPr>
          <a:xfrm>
            <a:off x="822960" y="5248656"/>
            <a:ext cx="1371600" cy="274320"/>
          </a:xfrm>
          <a:prstGeom prst="rect">
            <a:avLst/>
          </a:prstGeom>
          <a:noFill/>
          <a:ln/>
        </p:spPr>
        <p:txBody>
          <a:bodyPr wrap="square" lIns="0" tIns="0" rIns="0" bIns="0" rtlCol="0" anchor="ctr"/>
          <a:lstStyle/>
          <a:p>
            <a:pPr indent="0" marL="0">
              <a:buNone/>
            </a:pPr>
            <a:r>
              <a:rPr lang="en-US" sz="1200" dirty="0">
                <a:solidFill>
                  <a:srgbClr val="5A6B7C"/>
                </a:solidFill>
                <a:latin typeface="Calibri" pitchFamily="34" charset="0"/>
                <a:ea typeface="Calibri" pitchFamily="34" charset="-122"/>
                <a:cs typeface="Calibri" pitchFamily="34" charset="-120"/>
              </a:rPr>
              <a:t>7 classes</a:t>
            </a:r>
            <a:endParaRPr lang="en-US" sz="1200" dirty="0"/>
          </a:p>
        </p:txBody>
      </p:sp>
      <p:sp>
        <p:nvSpPr>
          <p:cNvPr id="19" name="Text 17"/>
          <p:cNvSpPr/>
          <p:nvPr/>
        </p:nvSpPr>
        <p:spPr>
          <a:xfrm>
            <a:off x="2286000" y="4901184"/>
            <a:ext cx="5943600" cy="640080"/>
          </a:xfrm>
          <a:prstGeom prst="rect">
            <a:avLst/>
          </a:prstGeom>
          <a:noFill/>
          <a:ln/>
        </p:spPr>
        <p:txBody>
          <a:bodyPr wrap="square" lIns="0" tIns="0" rIns="0" bIns="0" rtlCol="0" anchor="ctr"/>
          <a:lstStyle/>
          <a:p>
            <a:pPr indent="0" marL="0">
              <a:lnSpc>
                <a:spcPts val="1600"/>
              </a:lnSpc>
              <a:buNone/>
            </a:pPr>
            <a:r>
              <a:rPr lang="en-US" sz="1300" dirty="0">
                <a:solidFill>
                  <a:srgbClr val="23303C"/>
                </a:solidFill>
                <a:latin typeface="Calibri" pitchFamily="34" charset="0"/>
                <a:ea typeface="Calibri" pitchFamily="34" charset="-122"/>
                <a:cs typeface="Calibri" pitchFamily="34" charset="-120"/>
              </a:rPr>
              <a:t>EnergySource, SolarFarm, WindTurbine, HydroPlant, GasPlant, City, HourlyRecord</a:t>
            </a:r>
            <a:endParaRPr lang="en-US" sz="1300" dirty="0"/>
          </a:p>
        </p:txBody>
      </p:sp>
      <p:sp>
        <p:nvSpPr>
          <p:cNvPr id="20" name="Text 18"/>
          <p:cNvSpPr/>
          <p:nvPr/>
        </p:nvSpPr>
        <p:spPr>
          <a:xfrm>
            <a:off x="8732520" y="1737360"/>
            <a:ext cx="2926080" cy="822960"/>
          </a:xfrm>
          <a:prstGeom prst="rect">
            <a:avLst/>
          </a:prstGeom>
          <a:noFill/>
          <a:ln/>
        </p:spPr>
        <p:txBody>
          <a:bodyPr wrap="square" lIns="0" tIns="0" rIns="0" bIns="0" rtlCol="0" anchor="ctr"/>
          <a:lstStyle/>
          <a:p>
            <a:pPr indent="0" marL="0">
              <a:buNone/>
            </a:pPr>
            <a:r>
              <a:rPr lang="en-US" sz="5400" b="1" dirty="0">
                <a:solidFill>
                  <a:srgbClr val="1B998B"/>
                </a:solidFill>
                <a:latin typeface="Calibri" pitchFamily="34" charset="0"/>
                <a:ea typeface="Calibri" pitchFamily="34" charset="-122"/>
                <a:cs typeface="Calibri" pitchFamily="34" charset="-120"/>
              </a:rPr>
              <a:t>23</a:t>
            </a:r>
            <a:endParaRPr lang="en-US" sz="5400" dirty="0"/>
          </a:p>
        </p:txBody>
      </p:sp>
      <p:sp>
        <p:nvSpPr>
          <p:cNvPr id="21" name="Text 19"/>
          <p:cNvSpPr/>
          <p:nvPr/>
        </p:nvSpPr>
        <p:spPr>
          <a:xfrm>
            <a:off x="8732520" y="2560320"/>
            <a:ext cx="2926080" cy="640080"/>
          </a:xfrm>
          <a:prstGeom prst="rect">
            <a:avLst/>
          </a:prstGeom>
          <a:noFill/>
          <a:ln/>
        </p:spPr>
        <p:txBody>
          <a:bodyPr wrap="square" lIns="0" tIns="0" rIns="0" bIns="0" rtlCol="0" anchor="ctr"/>
          <a:lstStyle/>
          <a:p>
            <a:pPr indent="0" marL="0">
              <a:lnSpc>
                <a:spcPts val="1800"/>
              </a:lnSpc>
              <a:buNone/>
            </a:pPr>
            <a:r>
              <a:rPr lang="en-US" sz="1400" dirty="0">
                <a:solidFill>
                  <a:srgbClr val="5A6B7C"/>
                </a:solidFill>
                <a:latin typeface="Calibri" pitchFamily="34" charset="0"/>
                <a:ea typeface="Calibri" pitchFamily="34" charset="-122"/>
                <a:cs typeface="Calibri" pitchFamily="34" charset="-120"/>
              </a:rPr>
              <a:t>classes in 21 source files</a:t>
            </a:r>
            <a:endParaRPr lang="en-US" sz="1400" dirty="0"/>
          </a:p>
          <a:p>
            <a:pPr indent="0" marL="0">
              <a:lnSpc>
                <a:spcPts val="1800"/>
              </a:lnSpc>
              <a:buNone/>
            </a:pPr>
            <a:r>
              <a:rPr lang="en-US" sz="1400" dirty="0">
                <a:solidFill>
                  <a:srgbClr val="5A6B7C"/>
                </a:solidFill>
                <a:latin typeface="Calibri" pitchFamily="34" charset="0"/>
                <a:ea typeface="Calibri" pitchFamily="34" charset="-122"/>
                <a:cs typeface="Calibri" pitchFamily="34" charset="-120"/>
              </a:rPr>
              <a:t>(the syllabus asks for 6-8)</a:t>
            </a:r>
            <a:endParaRPr lang="en-US" sz="1400" dirty="0"/>
          </a:p>
        </p:txBody>
      </p:sp>
      <p:sp>
        <p:nvSpPr>
          <p:cNvPr id="22" name="Text 20"/>
          <p:cNvSpPr/>
          <p:nvPr/>
        </p:nvSpPr>
        <p:spPr>
          <a:xfrm>
            <a:off x="8732520" y="3383280"/>
            <a:ext cx="2926080" cy="2011680"/>
          </a:xfrm>
          <a:prstGeom prst="rect">
            <a:avLst/>
          </a:prstGeom>
          <a:noFill/>
          <a:ln/>
        </p:spPr>
        <p:txBody>
          <a:bodyPr wrap="square" lIns="0" tIns="0" rIns="0" bIns="0" rtlCol="0" anchor="ctr"/>
          <a:lstStyle/>
          <a:p>
            <a:pPr indent="0" marL="0">
              <a:lnSpc>
                <a:spcPts val="1900"/>
              </a:lnSpc>
              <a:buNone/>
            </a:pPr>
            <a:r>
              <a:rPr lang="en-US" sz="1400" dirty="0">
                <a:solidFill>
                  <a:srgbClr val="0B2545"/>
                </a:solidFill>
                <a:latin typeface="Calibri" pitchFamily="34" charset="0"/>
                <a:ea typeface="Calibri" pitchFamily="34" charset="-122"/>
                <a:cs typeface="Calibri" pitchFamily="34" charset="-120"/>
              </a:rPr>
              <a:t>Dependencies only point one way: ui and service depend on model, and model depends on nothing. That is why we can run the whole simulation from a plain main method, with no window open, to check our numbers.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8808415" cy="822960"/>
          </a:xfrm>
          <a:prstGeom prst="rect">
            <a:avLst/>
          </a:prstGeom>
          <a:noFill/>
          <a:ln/>
        </p:spPr>
        <p:txBody>
          <a:bodyPr wrap="square" lIns="0" tIns="0" rIns="0" bIns="0" rtlCol="0" anchor="t"/>
          <a:lstStyle/>
          <a:p>
            <a:pPr algn="l" indent="0" marL="0">
              <a:buNone/>
            </a:pPr>
            <a:r>
              <a:rPr lang="en-US" sz="2600" b="1" dirty="0">
                <a:solidFill>
                  <a:srgbClr val="0B2545"/>
                </a:solidFill>
                <a:latin typeface="Calibri" pitchFamily="34" charset="0"/>
                <a:ea typeface="Calibri" pitchFamily="34" charset="-122"/>
                <a:cs typeface="Calibri" pitchFamily="34" charset="-120"/>
              </a:rPr>
              <a:t>Every OOP requirement is met by code we can point at.</a:t>
            </a:r>
            <a:endParaRPr lang="en-US" sz="2600" dirty="0"/>
          </a:p>
        </p:txBody>
      </p:sp>
      <p:sp>
        <p:nvSpPr>
          <p:cNvPr id="3" name="Text 1"/>
          <p:cNvSpPr/>
          <p:nvPr/>
        </p:nvSpPr>
        <p:spPr>
          <a:xfrm>
            <a:off x="9448495" y="384048"/>
            <a:ext cx="2194560" cy="274320"/>
          </a:xfrm>
          <a:prstGeom prst="rect">
            <a:avLst/>
          </a:prstGeom>
          <a:noFill/>
          <a:ln/>
        </p:spPr>
        <p:txBody>
          <a:bodyPr wrap="square" lIns="0" tIns="0" rIns="0" bIns="0" rtlCol="0" anchor="ctr"/>
          <a:lstStyle/>
          <a:p>
            <a:pPr algn="r" indent="0" marL="0">
              <a:buNone/>
            </a:pPr>
            <a:r>
              <a:rPr lang="en-US" sz="1100" dirty="0">
                <a:solidFill>
                  <a:srgbClr val="5A6B7C"/>
                </a:solidFill>
                <a:latin typeface="Calibri" pitchFamily="34" charset="0"/>
                <a:ea typeface="Calibri" pitchFamily="34" charset="-122"/>
                <a:cs typeface="Calibri" pitchFamily="34" charset="-120"/>
              </a:rPr>
              <a:t>Member 2  ·  2:50 - 3:30</a:t>
            </a:r>
            <a:endParaRPr lang="en-US" sz="1100" dirty="0"/>
          </a:p>
        </p:txBody>
      </p:sp>
      <p:sp>
        <p:nvSpPr>
          <p:cNvPr id="4" name="Shape 2"/>
          <p:cNvSpPr/>
          <p:nvPr/>
        </p:nvSpPr>
        <p:spPr>
          <a:xfrm>
            <a:off x="548640" y="1517904"/>
            <a:ext cx="11094415" cy="621792"/>
          </a:xfrm>
          <a:prstGeom prst="roundRect">
            <a:avLst>
              <a:gd name="adj" fmla="val 11765"/>
            </a:avLst>
          </a:prstGeom>
          <a:solidFill>
            <a:srgbClr val="F6F9FB"/>
          </a:solidFill>
          <a:ln w="12700">
            <a:solidFill>
              <a:srgbClr val="F6F9FB"/>
            </a:solidFill>
            <a:prstDash val="solid"/>
          </a:ln>
        </p:spPr>
      </p:sp>
      <p:sp>
        <p:nvSpPr>
          <p:cNvPr id="5" name="Text 3"/>
          <p:cNvSpPr/>
          <p:nvPr/>
        </p:nvSpPr>
        <p:spPr>
          <a:xfrm>
            <a:off x="731520" y="1572768"/>
            <a:ext cx="1828800" cy="512064"/>
          </a:xfrm>
          <a:prstGeom prst="rect">
            <a:avLst/>
          </a:prstGeom>
          <a:noFill/>
          <a:ln/>
        </p:spPr>
        <p:txBody>
          <a:bodyPr wrap="square" lIns="0" tIns="0" rIns="0" bIns="0" rtlCol="0" anchor="ctr"/>
          <a:lstStyle/>
          <a:p>
            <a:pPr indent="0" marL="0">
              <a:buNone/>
            </a:pPr>
            <a:r>
              <a:rPr lang="en-US" sz="1500" b="1" dirty="0">
                <a:solidFill>
                  <a:srgbClr val="0B2545"/>
                </a:solidFill>
                <a:latin typeface="Calibri" pitchFamily="34" charset="0"/>
                <a:ea typeface="Calibri" pitchFamily="34" charset="-122"/>
                <a:cs typeface="Calibri" pitchFamily="34" charset="-120"/>
              </a:rPr>
              <a:t>Abstraction</a:t>
            </a:r>
            <a:endParaRPr lang="en-US" sz="1500" dirty="0"/>
          </a:p>
        </p:txBody>
      </p:sp>
      <p:sp>
        <p:nvSpPr>
          <p:cNvPr id="6" name="Text 4"/>
          <p:cNvSpPr/>
          <p:nvPr/>
        </p:nvSpPr>
        <p:spPr>
          <a:xfrm>
            <a:off x="2651760" y="1572768"/>
            <a:ext cx="8808415" cy="512064"/>
          </a:xfrm>
          <a:prstGeom prst="rect">
            <a:avLst/>
          </a:prstGeom>
          <a:noFill/>
          <a:ln/>
        </p:spPr>
        <p:txBody>
          <a:bodyPr wrap="square" lIns="0" tIns="0" rIns="0" bIns="0" rtlCol="0" anchor="ctr"/>
          <a:lstStyle/>
          <a:p>
            <a:pPr indent="0" marL="0">
              <a:buNone/>
            </a:pPr>
            <a:r>
              <a:rPr lang="en-US" sz="1400" dirty="0">
                <a:solidFill>
                  <a:srgbClr val="23303C"/>
                </a:solidFill>
                <a:latin typeface="Calibri" pitchFamily="34" charset="0"/>
                <a:ea typeface="Calibri" pitchFamily="34" charset="-122"/>
                <a:cs typeface="Calibri" pitchFamily="34" charset="-120"/>
              </a:rPr>
              <a:t>EnergySource is abstract with 5 abstract methods - it says what every source must report, never how.</a:t>
            </a:r>
            <a:endParaRPr lang="en-US" sz="1400" dirty="0"/>
          </a:p>
        </p:txBody>
      </p:sp>
      <p:sp>
        <p:nvSpPr>
          <p:cNvPr id="7" name="Text 5"/>
          <p:cNvSpPr/>
          <p:nvPr/>
        </p:nvSpPr>
        <p:spPr>
          <a:xfrm>
            <a:off x="731520" y="2194560"/>
            <a:ext cx="1828800" cy="512064"/>
          </a:xfrm>
          <a:prstGeom prst="rect">
            <a:avLst/>
          </a:prstGeom>
          <a:noFill/>
          <a:ln/>
        </p:spPr>
        <p:txBody>
          <a:bodyPr wrap="square" lIns="0" tIns="0" rIns="0" bIns="0" rtlCol="0" anchor="ctr"/>
          <a:lstStyle/>
          <a:p>
            <a:pPr indent="0" marL="0">
              <a:buNone/>
            </a:pPr>
            <a:r>
              <a:rPr lang="en-US" sz="1500" b="1" dirty="0">
                <a:solidFill>
                  <a:srgbClr val="0B2545"/>
                </a:solidFill>
                <a:latin typeface="Calibri" pitchFamily="34" charset="0"/>
                <a:ea typeface="Calibri" pitchFamily="34" charset="-122"/>
                <a:cs typeface="Calibri" pitchFamily="34" charset="-120"/>
              </a:rPr>
              <a:t>Inheritance</a:t>
            </a:r>
            <a:endParaRPr lang="en-US" sz="1500" dirty="0"/>
          </a:p>
        </p:txBody>
      </p:sp>
      <p:sp>
        <p:nvSpPr>
          <p:cNvPr id="8" name="Text 6"/>
          <p:cNvSpPr/>
          <p:nvPr/>
        </p:nvSpPr>
        <p:spPr>
          <a:xfrm>
            <a:off x="2651760" y="2194560"/>
            <a:ext cx="8808415" cy="512064"/>
          </a:xfrm>
          <a:prstGeom prst="rect">
            <a:avLst/>
          </a:prstGeom>
          <a:noFill/>
          <a:ln/>
        </p:spPr>
        <p:txBody>
          <a:bodyPr wrap="square" lIns="0" tIns="0" rIns="0" bIns="0" rtlCol="0" anchor="ctr"/>
          <a:lstStyle/>
          <a:p>
            <a:pPr indent="0" marL="0">
              <a:buNone/>
            </a:pPr>
            <a:r>
              <a:rPr lang="en-US" sz="1400" dirty="0">
                <a:solidFill>
                  <a:srgbClr val="23303C"/>
                </a:solidFill>
                <a:latin typeface="Calibri" pitchFamily="34" charset="0"/>
                <a:ea typeface="Calibri" pitchFamily="34" charset="-122"/>
                <a:cs typeface="Calibri" pitchFamily="34" charset="-120"/>
              </a:rPr>
              <a:t>SolarFarm, WindTurbine, HydroPlant, GasPlant extend EnergySource; panels extend JPanel.</a:t>
            </a:r>
            <a:endParaRPr lang="en-US" sz="1400" dirty="0"/>
          </a:p>
        </p:txBody>
      </p:sp>
      <p:sp>
        <p:nvSpPr>
          <p:cNvPr id="9" name="Shape 7"/>
          <p:cNvSpPr/>
          <p:nvPr/>
        </p:nvSpPr>
        <p:spPr>
          <a:xfrm>
            <a:off x="548640" y="2761488"/>
            <a:ext cx="11094415" cy="621792"/>
          </a:xfrm>
          <a:prstGeom prst="roundRect">
            <a:avLst>
              <a:gd name="adj" fmla="val 11765"/>
            </a:avLst>
          </a:prstGeom>
          <a:solidFill>
            <a:srgbClr val="F6F9FB"/>
          </a:solidFill>
          <a:ln w="12700">
            <a:solidFill>
              <a:srgbClr val="F6F9FB"/>
            </a:solidFill>
            <a:prstDash val="solid"/>
          </a:ln>
        </p:spPr>
      </p:sp>
      <p:sp>
        <p:nvSpPr>
          <p:cNvPr id="10" name="Text 8"/>
          <p:cNvSpPr/>
          <p:nvPr/>
        </p:nvSpPr>
        <p:spPr>
          <a:xfrm>
            <a:off x="731520" y="2816352"/>
            <a:ext cx="1828800" cy="512064"/>
          </a:xfrm>
          <a:prstGeom prst="rect">
            <a:avLst/>
          </a:prstGeom>
          <a:noFill/>
          <a:ln/>
        </p:spPr>
        <p:txBody>
          <a:bodyPr wrap="square" lIns="0" tIns="0" rIns="0" bIns="0" rtlCol="0" anchor="ctr"/>
          <a:lstStyle/>
          <a:p>
            <a:pPr indent="0" marL="0">
              <a:buNone/>
            </a:pPr>
            <a:r>
              <a:rPr lang="en-US" sz="1500" b="1" dirty="0">
                <a:solidFill>
                  <a:srgbClr val="0B2545"/>
                </a:solidFill>
                <a:latin typeface="Calibri" pitchFamily="34" charset="0"/>
                <a:ea typeface="Calibri" pitchFamily="34" charset="-122"/>
                <a:cs typeface="Calibri" pitchFamily="34" charset="-120"/>
              </a:rPr>
              <a:t>Polymorphism</a:t>
            </a:r>
            <a:endParaRPr lang="en-US" sz="1500" dirty="0"/>
          </a:p>
        </p:txBody>
      </p:sp>
      <p:sp>
        <p:nvSpPr>
          <p:cNvPr id="11" name="Text 9"/>
          <p:cNvSpPr/>
          <p:nvPr/>
        </p:nvSpPr>
        <p:spPr>
          <a:xfrm>
            <a:off x="2651760" y="2816352"/>
            <a:ext cx="8808415" cy="512064"/>
          </a:xfrm>
          <a:prstGeom prst="rect">
            <a:avLst/>
          </a:prstGeom>
          <a:noFill/>
          <a:ln/>
        </p:spPr>
        <p:txBody>
          <a:bodyPr wrap="square" lIns="0" tIns="0" rIns="0" bIns="0" rtlCol="0" anchor="ctr"/>
          <a:lstStyle/>
          <a:p>
            <a:pPr indent="0" marL="0">
              <a:buNone/>
            </a:pPr>
            <a:r>
              <a:rPr lang="en-US" sz="1400" dirty="0">
                <a:solidFill>
                  <a:srgbClr val="23303C"/>
                </a:solidFill>
                <a:latin typeface="Calibri" pitchFamily="34" charset="0"/>
                <a:ea typeface="Calibri" pitchFamily="34" charset="-122"/>
                <a:cs typeface="Calibri" pitchFamily="34" charset="-120"/>
              </a:rPr>
              <a:t>GridSimulator calls getOutputMW() on an EnergySource reference - each subclass answers with its own physics.</a:t>
            </a:r>
            <a:endParaRPr lang="en-US" sz="1400" dirty="0"/>
          </a:p>
        </p:txBody>
      </p:sp>
      <p:sp>
        <p:nvSpPr>
          <p:cNvPr id="12" name="Text 10"/>
          <p:cNvSpPr/>
          <p:nvPr/>
        </p:nvSpPr>
        <p:spPr>
          <a:xfrm>
            <a:off x="731520" y="3438144"/>
            <a:ext cx="1828800" cy="512064"/>
          </a:xfrm>
          <a:prstGeom prst="rect">
            <a:avLst/>
          </a:prstGeom>
          <a:noFill/>
          <a:ln/>
        </p:spPr>
        <p:txBody>
          <a:bodyPr wrap="square" lIns="0" tIns="0" rIns="0" bIns="0" rtlCol="0" anchor="ctr"/>
          <a:lstStyle/>
          <a:p>
            <a:pPr indent="0" marL="0">
              <a:buNone/>
            </a:pPr>
            <a:r>
              <a:rPr lang="en-US" sz="1500" b="1" dirty="0">
                <a:solidFill>
                  <a:srgbClr val="0B2545"/>
                </a:solidFill>
                <a:latin typeface="Calibri" pitchFamily="34" charset="0"/>
                <a:ea typeface="Calibri" pitchFamily="34" charset="-122"/>
                <a:cs typeface="Calibri" pitchFamily="34" charset="-120"/>
              </a:rPr>
              <a:t>Encapsulation</a:t>
            </a:r>
            <a:endParaRPr lang="en-US" sz="1500" dirty="0"/>
          </a:p>
        </p:txBody>
      </p:sp>
      <p:sp>
        <p:nvSpPr>
          <p:cNvPr id="13" name="Text 11"/>
          <p:cNvSpPr/>
          <p:nvPr/>
        </p:nvSpPr>
        <p:spPr>
          <a:xfrm>
            <a:off x="2651760" y="3438144"/>
            <a:ext cx="8808415" cy="512064"/>
          </a:xfrm>
          <a:prstGeom prst="rect">
            <a:avLst/>
          </a:prstGeom>
          <a:noFill/>
          <a:ln/>
        </p:spPr>
        <p:txBody>
          <a:bodyPr wrap="square" lIns="0" tIns="0" rIns="0" bIns="0" rtlCol="0" anchor="ctr"/>
          <a:lstStyle/>
          <a:p>
            <a:pPr indent="0" marL="0">
              <a:buNone/>
            </a:pPr>
            <a:r>
              <a:rPr lang="en-US" sz="1400" dirty="0">
                <a:solidFill>
                  <a:srgbClr val="23303C"/>
                </a:solidFill>
                <a:latin typeface="Calibri" pitchFamily="34" charset="0"/>
                <a:ea typeface="Calibri" pitchFamily="34" charset="-122"/>
                <a:cs typeface="Calibri" pitchFamily="34" charset="-120"/>
              </a:rPr>
              <a:t>Private fields with validated setters: a capacity below zero or an efficiency above 1 is rejected.</a:t>
            </a:r>
            <a:endParaRPr lang="en-US" sz="1400" dirty="0"/>
          </a:p>
        </p:txBody>
      </p:sp>
      <p:sp>
        <p:nvSpPr>
          <p:cNvPr id="14" name="Shape 12"/>
          <p:cNvSpPr/>
          <p:nvPr/>
        </p:nvSpPr>
        <p:spPr>
          <a:xfrm>
            <a:off x="548640" y="4005072"/>
            <a:ext cx="11094415" cy="621792"/>
          </a:xfrm>
          <a:prstGeom prst="roundRect">
            <a:avLst>
              <a:gd name="adj" fmla="val 11765"/>
            </a:avLst>
          </a:prstGeom>
          <a:solidFill>
            <a:srgbClr val="F6F9FB"/>
          </a:solidFill>
          <a:ln w="12700">
            <a:solidFill>
              <a:srgbClr val="F6F9FB"/>
            </a:solidFill>
            <a:prstDash val="solid"/>
          </a:ln>
        </p:spPr>
      </p:sp>
      <p:sp>
        <p:nvSpPr>
          <p:cNvPr id="15" name="Text 13"/>
          <p:cNvSpPr/>
          <p:nvPr/>
        </p:nvSpPr>
        <p:spPr>
          <a:xfrm>
            <a:off x="731520" y="4059936"/>
            <a:ext cx="1828800" cy="512064"/>
          </a:xfrm>
          <a:prstGeom prst="rect">
            <a:avLst/>
          </a:prstGeom>
          <a:noFill/>
          <a:ln/>
        </p:spPr>
        <p:txBody>
          <a:bodyPr wrap="square" lIns="0" tIns="0" rIns="0" bIns="0" rtlCol="0" anchor="ctr"/>
          <a:lstStyle/>
          <a:p>
            <a:pPr indent="0" marL="0">
              <a:buNone/>
            </a:pPr>
            <a:r>
              <a:rPr lang="en-US" sz="1500" b="1" dirty="0">
                <a:solidFill>
                  <a:srgbClr val="0B2545"/>
                </a:solidFill>
                <a:latin typeface="Calibri" pitchFamily="34" charset="0"/>
                <a:ea typeface="Calibri" pitchFamily="34" charset="-122"/>
                <a:cs typeface="Calibri" pitchFamily="34" charset="-120"/>
              </a:rPr>
              <a:t>Collections</a:t>
            </a:r>
            <a:endParaRPr lang="en-US" sz="1500" dirty="0"/>
          </a:p>
        </p:txBody>
      </p:sp>
      <p:sp>
        <p:nvSpPr>
          <p:cNvPr id="16" name="Text 14"/>
          <p:cNvSpPr/>
          <p:nvPr/>
        </p:nvSpPr>
        <p:spPr>
          <a:xfrm>
            <a:off x="2651760" y="4059936"/>
            <a:ext cx="8808415" cy="512064"/>
          </a:xfrm>
          <a:prstGeom prst="rect">
            <a:avLst/>
          </a:prstGeom>
          <a:noFill/>
          <a:ln/>
        </p:spPr>
        <p:txBody>
          <a:bodyPr wrap="square" lIns="0" tIns="0" rIns="0" bIns="0" rtlCol="0" anchor="ctr"/>
          <a:lstStyle/>
          <a:p>
            <a:pPr indent="0" marL="0">
              <a:buNone/>
            </a:pPr>
            <a:r>
              <a:rPr lang="en-US" sz="1400" dirty="0">
                <a:solidFill>
                  <a:srgbClr val="23303C"/>
                </a:solidFill>
                <a:latin typeface="Calibri" pitchFamily="34" charset="0"/>
                <a:ea typeface="Calibri" pitchFamily="34" charset="-122"/>
                <a:cs typeface="Calibri" pitchFamily="34" charset="-120"/>
              </a:rPr>
              <a:t>ArrayList&lt;EnergySource&gt;, List&lt;HourlyRecord&gt;, HashMap for per-type totals, LinkedHashMap for menu order.</a:t>
            </a:r>
            <a:endParaRPr lang="en-US" sz="1400" dirty="0"/>
          </a:p>
        </p:txBody>
      </p:sp>
      <p:sp>
        <p:nvSpPr>
          <p:cNvPr id="17" name="Text 15"/>
          <p:cNvSpPr/>
          <p:nvPr/>
        </p:nvSpPr>
        <p:spPr>
          <a:xfrm>
            <a:off x="731520" y="4681728"/>
            <a:ext cx="1828800" cy="512064"/>
          </a:xfrm>
          <a:prstGeom prst="rect">
            <a:avLst/>
          </a:prstGeom>
          <a:noFill/>
          <a:ln/>
        </p:spPr>
        <p:txBody>
          <a:bodyPr wrap="square" lIns="0" tIns="0" rIns="0" bIns="0" rtlCol="0" anchor="ctr"/>
          <a:lstStyle/>
          <a:p>
            <a:pPr indent="0" marL="0">
              <a:buNone/>
            </a:pPr>
            <a:r>
              <a:rPr lang="en-US" sz="1500" b="1" dirty="0">
                <a:solidFill>
                  <a:srgbClr val="0B2545"/>
                </a:solidFill>
                <a:latin typeface="Calibri" pitchFamily="34" charset="0"/>
                <a:ea typeface="Calibri" pitchFamily="34" charset="-122"/>
                <a:cs typeface="Calibri" pitchFamily="34" charset="-120"/>
              </a:rPr>
              <a:t>File handling</a:t>
            </a:r>
            <a:endParaRPr lang="en-US" sz="1500" dirty="0"/>
          </a:p>
        </p:txBody>
      </p:sp>
      <p:sp>
        <p:nvSpPr>
          <p:cNvPr id="18" name="Text 16"/>
          <p:cNvSpPr/>
          <p:nvPr/>
        </p:nvSpPr>
        <p:spPr>
          <a:xfrm>
            <a:off x="2651760" y="4681728"/>
            <a:ext cx="8808415" cy="512064"/>
          </a:xfrm>
          <a:prstGeom prst="rect">
            <a:avLst/>
          </a:prstGeom>
          <a:noFill/>
          <a:ln/>
        </p:spPr>
        <p:txBody>
          <a:bodyPr wrap="square" lIns="0" tIns="0" rIns="0" bIns="0" rtlCol="0" anchor="ctr"/>
          <a:lstStyle/>
          <a:p>
            <a:pPr indent="0" marL="0">
              <a:buNone/>
            </a:pPr>
            <a:r>
              <a:rPr lang="en-US" sz="1400" dirty="0">
                <a:solidFill>
                  <a:srgbClr val="23303C"/>
                </a:solidFill>
                <a:latin typeface="Calibri" pitchFamily="34" charset="0"/>
                <a:ea typeface="Calibri" pitchFamily="34" charset="-122"/>
                <a:cs typeface="Calibri" pitchFamily="34" charset="-120"/>
              </a:rPr>
              <a:t>DataStore writes grid_sources.csv and rebuilds the correct subclass on load; exports the report as text.</a:t>
            </a:r>
            <a:endParaRPr lang="en-US" sz="1400" dirty="0"/>
          </a:p>
        </p:txBody>
      </p:sp>
      <p:sp>
        <p:nvSpPr>
          <p:cNvPr id="19" name="Shape 17"/>
          <p:cNvSpPr/>
          <p:nvPr/>
        </p:nvSpPr>
        <p:spPr>
          <a:xfrm>
            <a:off x="548640" y="5248656"/>
            <a:ext cx="11094415" cy="621792"/>
          </a:xfrm>
          <a:prstGeom prst="roundRect">
            <a:avLst>
              <a:gd name="adj" fmla="val 11765"/>
            </a:avLst>
          </a:prstGeom>
          <a:solidFill>
            <a:srgbClr val="F6F9FB"/>
          </a:solidFill>
          <a:ln w="12700">
            <a:solidFill>
              <a:srgbClr val="F6F9FB"/>
            </a:solidFill>
            <a:prstDash val="solid"/>
          </a:ln>
        </p:spPr>
      </p:sp>
      <p:sp>
        <p:nvSpPr>
          <p:cNvPr id="20" name="Text 18"/>
          <p:cNvSpPr/>
          <p:nvPr/>
        </p:nvSpPr>
        <p:spPr>
          <a:xfrm>
            <a:off x="731520" y="5303520"/>
            <a:ext cx="1828800" cy="512064"/>
          </a:xfrm>
          <a:prstGeom prst="rect">
            <a:avLst/>
          </a:prstGeom>
          <a:noFill/>
          <a:ln/>
        </p:spPr>
        <p:txBody>
          <a:bodyPr wrap="square" lIns="0" tIns="0" rIns="0" bIns="0" rtlCol="0" anchor="ctr"/>
          <a:lstStyle/>
          <a:p>
            <a:pPr indent="0" marL="0">
              <a:buNone/>
            </a:pPr>
            <a:r>
              <a:rPr lang="en-US" sz="1500" b="1" dirty="0">
                <a:solidFill>
                  <a:srgbClr val="0B2545"/>
                </a:solidFill>
                <a:latin typeface="Calibri" pitchFamily="34" charset="0"/>
                <a:ea typeface="Calibri" pitchFamily="34" charset="-122"/>
                <a:cs typeface="Calibri" pitchFamily="34" charset="-120"/>
              </a:rPr>
              <a:t>GUI</a:t>
            </a:r>
            <a:endParaRPr lang="en-US" sz="1500" dirty="0"/>
          </a:p>
        </p:txBody>
      </p:sp>
      <p:sp>
        <p:nvSpPr>
          <p:cNvPr id="21" name="Text 19"/>
          <p:cNvSpPr/>
          <p:nvPr/>
        </p:nvSpPr>
        <p:spPr>
          <a:xfrm>
            <a:off x="2651760" y="5303520"/>
            <a:ext cx="8808415" cy="512064"/>
          </a:xfrm>
          <a:prstGeom prst="rect">
            <a:avLst/>
          </a:prstGeom>
          <a:noFill/>
          <a:ln/>
        </p:spPr>
        <p:txBody>
          <a:bodyPr wrap="square" lIns="0" tIns="0" rIns="0" bIns="0" rtlCol="0" anchor="ctr"/>
          <a:lstStyle/>
          <a:p>
            <a:pPr indent="0" marL="0">
              <a:buNone/>
            </a:pPr>
            <a:r>
              <a:rPr lang="en-US" sz="1400" dirty="0">
                <a:solidFill>
                  <a:srgbClr val="23303C"/>
                </a:solidFill>
                <a:latin typeface="Calibri" pitchFamily="34" charset="0"/>
                <a:ea typeface="Calibri" pitchFamily="34" charset="-122"/>
                <a:cs typeface="Calibri" pitchFamily="34" charset="-120"/>
              </a:rPr>
              <a:t>Java Swing: CardLayout navigation, JTable fleet, forms, and a chart painted with Java 2D.</a:t>
            </a:r>
            <a:endParaRPr lang="en-US" sz="1400" dirty="0"/>
          </a:p>
        </p:txBody>
      </p:sp>
      <p:sp>
        <p:nvSpPr>
          <p:cNvPr id="22" name="Text 20"/>
          <p:cNvSpPr/>
          <p:nvPr/>
        </p:nvSpPr>
        <p:spPr>
          <a:xfrm>
            <a:off x="548640" y="6053328"/>
            <a:ext cx="11094415" cy="320040"/>
          </a:xfrm>
          <a:prstGeom prst="rect">
            <a:avLst/>
          </a:prstGeom>
          <a:noFill/>
          <a:ln/>
        </p:spPr>
        <p:txBody>
          <a:bodyPr wrap="square" lIns="0" tIns="0" rIns="0" bIns="0" rtlCol="0" anchor="ctr"/>
          <a:lstStyle/>
          <a:p>
            <a:pPr indent="0" marL="0">
              <a:buNone/>
            </a:pPr>
            <a:r>
              <a:rPr lang="en-US" sz="1300" i="1" dirty="0">
                <a:solidFill>
                  <a:srgbClr val="1B998B"/>
                </a:solidFill>
                <a:latin typeface="Calibri" pitchFamily="34" charset="0"/>
                <a:ea typeface="Calibri" pitchFamily="34" charset="-122"/>
                <a:cs typeface="Calibri" pitchFamily="34" charset="-120"/>
              </a:rPr>
              <a:t>Polymorphism is not decoration here: one getOutputMW() call inside one loop produces four completely different output curves.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8808415" cy="822960"/>
          </a:xfrm>
          <a:prstGeom prst="rect">
            <a:avLst/>
          </a:prstGeom>
          <a:noFill/>
          <a:ln/>
        </p:spPr>
        <p:txBody>
          <a:bodyPr wrap="square" lIns="0" tIns="0" rIns="0" bIns="0" rtlCol="0" anchor="t"/>
          <a:lstStyle/>
          <a:p>
            <a:pPr algn="l" indent="0" marL="0">
              <a:buNone/>
            </a:pPr>
            <a:r>
              <a:rPr lang="en-US" sz="2600" b="1" dirty="0">
                <a:solidFill>
                  <a:srgbClr val="0B2545"/>
                </a:solidFill>
                <a:latin typeface="Calibri" pitchFamily="34" charset="0"/>
                <a:ea typeface="Calibri" pitchFamily="34" charset="-122"/>
                <a:cs typeface="Calibri" pitchFamily="34" charset="-120"/>
              </a:rPr>
              <a:t>Demo 1: building a city's fleet takes about fifteen seconds.</a:t>
            </a:r>
            <a:endParaRPr lang="en-US" sz="2600" dirty="0"/>
          </a:p>
        </p:txBody>
      </p:sp>
      <p:sp>
        <p:nvSpPr>
          <p:cNvPr id="3" name="Text 1"/>
          <p:cNvSpPr/>
          <p:nvPr/>
        </p:nvSpPr>
        <p:spPr>
          <a:xfrm>
            <a:off x="9448495" y="384048"/>
            <a:ext cx="2194560" cy="274320"/>
          </a:xfrm>
          <a:prstGeom prst="rect">
            <a:avLst/>
          </a:prstGeom>
          <a:noFill/>
          <a:ln/>
        </p:spPr>
        <p:txBody>
          <a:bodyPr wrap="square" lIns="0" tIns="0" rIns="0" bIns="0" rtlCol="0" anchor="ctr"/>
          <a:lstStyle/>
          <a:p>
            <a:pPr algn="r" indent="0" marL="0">
              <a:buNone/>
            </a:pPr>
            <a:r>
              <a:rPr lang="en-US" sz="1100" dirty="0">
                <a:solidFill>
                  <a:srgbClr val="5A6B7C"/>
                </a:solidFill>
                <a:latin typeface="Calibri" pitchFamily="34" charset="0"/>
                <a:ea typeface="Calibri" pitchFamily="34" charset="-122"/>
                <a:cs typeface="Calibri" pitchFamily="34" charset="-120"/>
              </a:rPr>
              <a:t>Member 2  ·  3:30 - 4:20</a:t>
            </a:r>
            <a:endParaRPr lang="en-US" sz="1100" dirty="0"/>
          </a:p>
        </p:txBody>
      </p:sp>
      <p:sp>
        <p:nvSpPr>
          <p:cNvPr id="4" name="Shape 2"/>
          <p:cNvSpPr/>
          <p:nvPr/>
        </p:nvSpPr>
        <p:spPr>
          <a:xfrm>
            <a:off x="548640" y="1645920"/>
            <a:ext cx="6766560" cy="3657600"/>
          </a:xfrm>
          <a:prstGeom prst="roundRect">
            <a:avLst>
              <a:gd name="adj" fmla="val 2000"/>
            </a:avLst>
          </a:prstGeom>
          <a:solidFill>
            <a:srgbClr val="EEF2F6"/>
          </a:solidFill>
          <a:ln w="12700">
            <a:solidFill>
              <a:srgbClr val="EEF2F6"/>
            </a:solidFill>
            <a:prstDash val="solid"/>
          </a:ln>
        </p:spPr>
      </p:sp>
      <p:sp>
        <p:nvSpPr>
          <p:cNvPr id="5" name="Text 3"/>
          <p:cNvSpPr/>
          <p:nvPr/>
        </p:nvSpPr>
        <p:spPr>
          <a:xfrm>
            <a:off x="868680" y="1828800"/>
            <a:ext cx="2743200" cy="320040"/>
          </a:xfrm>
          <a:prstGeom prst="rect">
            <a:avLst/>
          </a:prstGeom>
          <a:noFill/>
          <a:ln/>
        </p:spPr>
        <p:txBody>
          <a:bodyPr wrap="square" lIns="0" tIns="0" rIns="0" bIns="0" rtlCol="0" anchor="ctr"/>
          <a:lstStyle/>
          <a:p>
            <a:pPr indent="0" marL="0">
              <a:buNone/>
            </a:pPr>
            <a:r>
              <a:rPr lang="en-US" sz="1400" b="1" dirty="0">
                <a:solidFill>
                  <a:srgbClr val="1B998B"/>
                </a:solidFill>
                <a:latin typeface="Calibri" pitchFamily="34" charset="0"/>
                <a:ea typeface="Calibri" pitchFamily="34" charset="-122"/>
                <a:cs typeface="Calibri" pitchFamily="34" charset="-120"/>
              </a:rPr>
              <a:t>On screen</a:t>
            </a:r>
            <a:endParaRPr lang="en-US" sz="1400" dirty="0"/>
          </a:p>
        </p:txBody>
      </p:sp>
      <p:sp>
        <p:nvSpPr>
          <p:cNvPr id="6" name="Text 4"/>
          <p:cNvSpPr/>
          <p:nvPr/>
        </p:nvSpPr>
        <p:spPr>
          <a:xfrm>
            <a:off x="868680" y="2240280"/>
            <a:ext cx="6126480" cy="28346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3303C"/>
                </a:solidFill>
                <a:latin typeface="Calibri" pitchFamily="34" charset="0"/>
                <a:ea typeface="Calibri" pitchFamily="34" charset="-122"/>
                <a:cs typeface="Calibri" pitchFamily="34" charset="-120"/>
              </a:rPr>
              <a:t>Pick "Cyberjaya, Malaysia - Solar Pilot City" and click Load Example.</a:t>
            </a:r>
            <a:endParaRPr lang="en-US" sz="1600" dirty="0"/>
          </a:p>
          <a:p>
            <a:pPr marL="342900" indent="-342900">
              <a:spcAft>
                <a:spcPts val="1000"/>
              </a:spcAft>
              <a:buSzPct val="100000"/>
              <a:buChar char="•"/>
            </a:pPr>
            <a:r>
              <a:rPr lang="en-US" sz="1600" dirty="0">
                <a:solidFill>
                  <a:srgbClr val="23303C"/>
                </a:solidFill>
                <a:latin typeface="Calibri" pitchFamily="34" charset="0"/>
                <a:ea typeface="Calibri" pitchFamily="34" charset="-122"/>
                <a:cs typeface="Calibri" pitchFamily="34" charset="-120"/>
              </a:rPr>
              <a:t>The JTable fills with four sources; the city and peak demand fields update.</a:t>
            </a:r>
            <a:endParaRPr lang="en-US" sz="1600" dirty="0"/>
          </a:p>
          <a:p>
            <a:pPr marL="342900" indent="-342900">
              <a:spcAft>
                <a:spcPts val="1000"/>
              </a:spcAft>
              <a:buSzPct val="100000"/>
              <a:buChar char="•"/>
            </a:pPr>
            <a:r>
              <a:rPr lang="en-US" sz="1600" dirty="0">
                <a:solidFill>
                  <a:srgbClr val="23303C"/>
                </a:solidFill>
                <a:latin typeface="Calibri" pitchFamily="34" charset="0"/>
                <a:ea typeface="Calibri" pitchFamily="34" charset="-122"/>
                <a:cs typeface="Calibri" pitchFamily="34" charset="-120"/>
              </a:rPr>
              <a:t>Add a source with the form: type, name, capacity in MW, solar efficiency.</a:t>
            </a:r>
            <a:endParaRPr lang="en-US" sz="1600" dirty="0"/>
          </a:p>
          <a:p>
            <a:pPr marL="342900" indent="-342900">
              <a:spcAft>
                <a:spcPts val="1000"/>
              </a:spcAft>
              <a:buSzPct val="100000"/>
              <a:buChar char="•"/>
            </a:pPr>
            <a:r>
              <a:rPr lang="en-US" sz="1600" dirty="0">
                <a:solidFill>
                  <a:srgbClr val="23303C"/>
                </a:solidFill>
                <a:latin typeface="Calibri" pitchFamily="34" charset="0"/>
                <a:ea typeface="Calibri" pitchFamily="34" charset="-122"/>
                <a:cs typeface="Calibri" pitchFamily="34" charset="-120"/>
              </a:rPr>
              <a:t>Remove Selected, Save to File and Load from File all act on the same list.</a:t>
            </a:r>
            <a:endParaRPr lang="en-US" sz="1600" dirty="0"/>
          </a:p>
        </p:txBody>
      </p:sp>
      <p:sp>
        <p:nvSpPr>
          <p:cNvPr id="7" name="Shape 5"/>
          <p:cNvSpPr/>
          <p:nvPr/>
        </p:nvSpPr>
        <p:spPr>
          <a:xfrm>
            <a:off x="7635240" y="1645920"/>
            <a:ext cx="4023360" cy="3657600"/>
          </a:xfrm>
          <a:prstGeom prst="roundRect">
            <a:avLst>
              <a:gd name="adj" fmla="val 2000"/>
            </a:avLst>
          </a:prstGeom>
          <a:solidFill>
            <a:srgbClr val="F6F9FB"/>
          </a:solidFill>
          <a:ln w="12700">
            <a:solidFill>
              <a:srgbClr val="F6F9FB"/>
            </a:solidFill>
            <a:prstDash val="solid"/>
          </a:ln>
        </p:spPr>
      </p:sp>
      <p:sp>
        <p:nvSpPr>
          <p:cNvPr id="8" name="Text 6"/>
          <p:cNvSpPr/>
          <p:nvPr/>
        </p:nvSpPr>
        <p:spPr>
          <a:xfrm>
            <a:off x="7909560" y="1828800"/>
            <a:ext cx="3474720" cy="320040"/>
          </a:xfrm>
          <a:prstGeom prst="rect">
            <a:avLst/>
          </a:prstGeom>
          <a:noFill/>
          <a:ln/>
        </p:spPr>
        <p:txBody>
          <a:bodyPr wrap="square" lIns="0" tIns="0" rIns="0" bIns="0" rtlCol="0" anchor="ctr"/>
          <a:lstStyle/>
          <a:p>
            <a:pPr indent="0" marL="0">
              <a:buNone/>
            </a:pPr>
            <a:r>
              <a:rPr lang="en-US" sz="1400" b="1" dirty="0">
                <a:solidFill>
                  <a:srgbClr val="F4A300"/>
                </a:solidFill>
                <a:latin typeface="Calibri" pitchFamily="34" charset="0"/>
                <a:ea typeface="Calibri" pitchFamily="34" charset="-122"/>
                <a:cs typeface="Calibri" pitchFamily="34" charset="-120"/>
              </a:rPr>
              <a:t>Say while clicking</a:t>
            </a:r>
            <a:endParaRPr lang="en-US" sz="1400" dirty="0"/>
          </a:p>
        </p:txBody>
      </p:sp>
      <p:sp>
        <p:nvSpPr>
          <p:cNvPr id="9" name="Text 7"/>
          <p:cNvSpPr/>
          <p:nvPr/>
        </p:nvSpPr>
        <p:spPr>
          <a:xfrm>
            <a:off x="7909560" y="2240280"/>
            <a:ext cx="3474720" cy="2834640"/>
          </a:xfrm>
          <a:prstGeom prst="rect">
            <a:avLst/>
          </a:prstGeom>
          <a:noFill/>
          <a:ln/>
        </p:spPr>
        <p:txBody>
          <a:bodyPr wrap="square" lIns="0" tIns="0" rIns="0" bIns="0" rtlCol="0" anchor="t"/>
          <a:lstStyle/>
          <a:p>
            <a:pPr indent="0" marL="0">
              <a:lnSpc>
                <a:spcPts val="2100"/>
              </a:lnSpc>
              <a:buNone/>
            </a:pPr>
            <a:r>
              <a:rPr lang="en-US" sz="1500" dirty="0">
                <a:solidFill>
                  <a:srgbClr val="0B2545"/>
                </a:solidFill>
                <a:latin typeface="Calibri" pitchFamily="34" charset="0"/>
                <a:ea typeface="Calibri" pitchFamily="34" charset="-122"/>
                <a:cs typeface="Calibri" pitchFamily="34" charset="-120"/>
              </a:rPr>
              <a:t>“These six examples are modelled on real energy mixes - Kuching runs on Sarawak hydro, Copenhagen on offshore wind, Tokyo still on gas. Every row you see is an EnergySource object; the table is just a view of the ArrayList.”</a:t>
            </a:r>
            <a:endParaRPr lang="en-US" sz="1500" dirty="0"/>
          </a:p>
        </p:txBody>
      </p:sp>
      <p:sp>
        <p:nvSpPr>
          <p:cNvPr id="10" name="Text 8"/>
          <p:cNvSpPr/>
          <p:nvPr/>
        </p:nvSpPr>
        <p:spPr>
          <a:xfrm>
            <a:off x="548640" y="5532120"/>
            <a:ext cx="11094415" cy="320040"/>
          </a:xfrm>
          <a:prstGeom prst="rect">
            <a:avLst/>
          </a:prstGeom>
          <a:noFill/>
          <a:ln/>
        </p:spPr>
        <p:txBody>
          <a:bodyPr wrap="square" lIns="0" tIns="0" rIns="0" bIns="0" rtlCol="0" anchor="ctr"/>
          <a:lstStyle/>
          <a:p>
            <a:pPr indent="0" marL="0">
              <a:buNone/>
            </a:pPr>
            <a:r>
              <a:rPr lang="en-US" sz="1300" i="1" dirty="0">
                <a:solidFill>
                  <a:srgbClr val="5A6B7C"/>
                </a:solidFill>
                <a:latin typeface="Calibri" pitchFamily="34" charset="0"/>
                <a:ea typeface="Calibri" pitchFamily="34" charset="-122"/>
                <a:cs typeface="Calibri" pitchFamily="34" charset="-120"/>
              </a:rPr>
              <a:t>Rehearsed path only - do not improvise new clicks on stage.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8808415" cy="822960"/>
          </a:xfrm>
          <a:prstGeom prst="rect">
            <a:avLst/>
          </a:prstGeom>
          <a:noFill/>
          <a:ln/>
        </p:spPr>
        <p:txBody>
          <a:bodyPr wrap="square" lIns="0" tIns="0" rIns="0" bIns="0" rtlCol="0" anchor="t"/>
          <a:lstStyle/>
          <a:p>
            <a:pPr algn="l" indent="0" marL="0">
              <a:buNone/>
            </a:pPr>
            <a:r>
              <a:rPr lang="en-US" sz="2600" b="1" dirty="0">
                <a:solidFill>
                  <a:srgbClr val="0B2545"/>
                </a:solidFill>
                <a:latin typeface="Calibri" pitchFamily="34" charset="0"/>
                <a:ea typeface="Calibri" pitchFamily="34" charset="-122"/>
                <a:cs typeface="Calibri" pitchFamily="34" charset="-120"/>
              </a:rPr>
              <a:t>Merit order is SDG 7 written as code: the cleanest energy always runs first.</a:t>
            </a:r>
            <a:endParaRPr lang="en-US" sz="2600" dirty="0"/>
          </a:p>
        </p:txBody>
      </p:sp>
      <p:sp>
        <p:nvSpPr>
          <p:cNvPr id="3" name="Text 1"/>
          <p:cNvSpPr/>
          <p:nvPr/>
        </p:nvSpPr>
        <p:spPr>
          <a:xfrm>
            <a:off x="9448495" y="384048"/>
            <a:ext cx="2194560" cy="274320"/>
          </a:xfrm>
          <a:prstGeom prst="rect">
            <a:avLst/>
          </a:prstGeom>
          <a:noFill/>
          <a:ln/>
        </p:spPr>
        <p:txBody>
          <a:bodyPr wrap="square" lIns="0" tIns="0" rIns="0" bIns="0" rtlCol="0" anchor="ctr"/>
          <a:lstStyle/>
          <a:p>
            <a:pPr algn="r" indent="0" marL="0">
              <a:buNone/>
            </a:pPr>
            <a:r>
              <a:rPr lang="en-US" sz="1100" dirty="0">
                <a:solidFill>
                  <a:srgbClr val="5A6B7C"/>
                </a:solidFill>
                <a:latin typeface="Calibri" pitchFamily="34" charset="0"/>
                <a:ea typeface="Calibri" pitchFamily="34" charset="-122"/>
                <a:cs typeface="Calibri" pitchFamily="34" charset="-120"/>
              </a:rPr>
              <a:t>Member 3  ·  4:20 - 5:10</a:t>
            </a:r>
            <a:endParaRPr lang="en-US" sz="1100" dirty="0"/>
          </a:p>
        </p:txBody>
      </p:sp>
      <p:graphicFrame>
        <p:nvGraphicFramePr>
          <p:cNvPr id="4" name="Chart 0" descr=""/>
          <p:cNvGraphicFramePr/>
          <p:nvPr/>
        </p:nvGraphicFramePr>
        <p:xfrm>
          <a:off x="548640" y="1600200"/>
          <a:ext cx="7406640" cy="38862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8183880" y="1691640"/>
            <a:ext cx="3474720" cy="320040"/>
          </a:xfrm>
          <a:prstGeom prst="rect">
            <a:avLst/>
          </a:prstGeom>
          <a:noFill/>
          <a:ln/>
        </p:spPr>
        <p:txBody>
          <a:bodyPr wrap="square" lIns="0" tIns="0" rIns="0" bIns="0" rtlCol="0" anchor="ctr"/>
          <a:lstStyle/>
          <a:p>
            <a:pPr indent="0" marL="0">
              <a:buNone/>
            </a:pPr>
            <a:r>
              <a:rPr lang="en-US" sz="1500" b="1" dirty="0">
                <a:solidFill>
                  <a:srgbClr val="0B2545"/>
                </a:solidFill>
                <a:latin typeface="Calibri" pitchFamily="34" charset="0"/>
                <a:ea typeface="Calibri" pitchFamily="34" charset="-122"/>
                <a:cs typeface="Calibri" pitchFamily="34" charset="-120"/>
              </a:rPr>
              <a:t>Four steps, every hour</a:t>
            </a:r>
            <a:endParaRPr lang="en-US" sz="1500" dirty="0"/>
          </a:p>
        </p:txBody>
      </p:sp>
      <p:sp>
        <p:nvSpPr>
          <p:cNvPr id="6" name="Text 3"/>
          <p:cNvSpPr/>
          <p:nvPr/>
        </p:nvSpPr>
        <p:spPr>
          <a:xfrm>
            <a:off x="8183880" y="2103120"/>
            <a:ext cx="3474720" cy="228600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23303C"/>
                </a:solidFill>
                <a:latin typeface="Calibri" pitchFamily="34" charset="0"/>
                <a:ea typeface="Calibri" pitchFamily="34" charset="-122"/>
                <a:cs typeface="Calibri" pitchFamily="34" charset="-120"/>
              </a:rPr>
              <a:t>Solar and wind generate whatever the weather allows.</a:t>
            </a:r>
            <a:endParaRPr lang="en-US" sz="1400" dirty="0"/>
          </a:p>
          <a:p>
            <a:pPr marL="342900" indent="-342900">
              <a:spcAft>
                <a:spcPts val="1000"/>
              </a:spcAft>
              <a:buSzPct val="100000"/>
              <a:buChar char="•"/>
            </a:pPr>
            <a:r>
              <a:rPr lang="en-US" sz="1400" dirty="0">
                <a:solidFill>
                  <a:srgbClr val="23303C"/>
                </a:solidFill>
                <a:latin typeface="Calibri" pitchFamily="34" charset="0"/>
                <a:ea typeface="Calibri" pitchFamily="34" charset="-122"/>
                <a:cs typeface="Calibri" pitchFamily="34" charset="-120"/>
              </a:rPr>
              <a:t>Hydro releases water to cover the gap - clean and controllable.</a:t>
            </a:r>
            <a:endParaRPr lang="en-US" sz="1400" dirty="0"/>
          </a:p>
          <a:p>
            <a:pPr marL="342900" indent="-342900">
              <a:spcAft>
                <a:spcPts val="1000"/>
              </a:spcAft>
              <a:buSzPct val="100000"/>
              <a:buChar char="•"/>
            </a:pPr>
            <a:r>
              <a:rPr lang="en-US" sz="1400" dirty="0">
                <a:solidFill>
                  <a:srgbClr val="23303C"/>
                </a:solidFill>
                <a:latin typeface="Calibri" pitchFamily="34" charset="0"/>
                <a:ea typeface="Calibri" pitchFamily="34" charset="-122"/>
                <a:cs typeface="Calibri" pitchFamily="34" charset="-120"/>
              </a:rPr>
              <a:t>Gas is turned up only for what is still missing.</a:t>
            </a:r>
            <a:endParaRPr lang="en-US" sz="1400" dirty="0"/>
          </a:p>
          <a:p>
            <a:pPr marL="342900" indent="-342900">
              <a:spcAft>
                <a:spcPts val="1000"/>
              </a:spcAft>
              <a:buSzPct val="100000"/>
              <a:buChar char="•"/>
            </a:pPr>
            <a:r>
              <a:rPr lang="en-US" sz="1400" dirty="0">
                <a:solidFill>
                  <a:srgbClr val="23303C"/>
                </a:solidFill>
                <a:latin typeface="Calibri" pitchFamily="34" charset="0"/>
                <a:ea typeface="Calibri" pitchFamily="34" charset="-122"/>
                <a:cs typeface="Calibri" pitchFamily="34" charset="-120"/>
              </a:rPr>
              <a:t>Anything still short is recorded as a blackout hour.</a:t>
            </a:r>
            <a:endParaRPr lang="en-US" sz="1400" dirty="0"/>
          </a:p>
        </p:txBody>
      </p:sp>
      <p:sp>
        <p:nvSpPr>
          <p:cNvPr id="7" name="Shape 4"/>
          <p:cNvSpPr/>
          <p:nvPr/>
        </p:nvSpPr>
        <p:spPr>
          <a:xfrm>
            <a:off x="8183880" y="4480560"/>
            <a:ext cx="3474720" cy="1234440"/>
          </a:xfrm>
          <a:prstGeom prst="roundRect">
            <a:avLst>
              <a:gd name="adj" fmla="val 5926"/>
            </a:avLst>
          </a:prstGeom>
          <a:solidFill>
            <a:srgbClr val="FDEEEE"/>
          </a:solidFill>
          <a:ln w="12700">
            <a:solidFill>
              <a:srgbClr val="FDEEEE"/>
            </a:solidFill>
            <a:prstDash val="solid"/>
          </a:ln>
        </p:spPr>
      </p:sp>
      <p:sp>
        <p:nvSpPr>
          <p:cNvPr id="8" name="Text 5"/>
          <p:cNvSpPr/>
          <p:nvPr/>
        </p:nvSpPr>
        <p:spPr>
          <a:xfrm>
            <a:off x="8458200" y="4572000"/>
            <a:ext cx="2926080" cy="1051560"/>
          </a:xfrm>
          <a:prstGeom prst="rect">
            <a:avLst/>
          </a:prstGeom>
          <a:noFill/>
          <a:ln/>
        </p:spPr>
        <p:txBody>
          <a:bodyPr wrap="square" lIns="0" tIns="0" rIns="0" bIns="0" rtlCol="0" anchor="ctr"/>
          <a:lstStyle/>
          <a:p>
            <a:pPr indent="0" marL="0">
              <a:lnSpc>
                <a:spcPts val="1800"/>
              </a:lnSpc>
              <a:buNone/>
            </a:pPr>
            <a:r>
              <a:rPr lang="en-US" sz="1400" b="1" dirty="0">
                <a:solidFill>
                  <a:srgbClr val="8C1B20"/>
                </a:solidFill>
                <a:latin typeface="Calibri" pitchFamily="34" charset="0"/>
                <a:ea typeface="Calibri" pitchFamily="34" charset="-122"/>
                <a:cs typeface="Calibri" pitchFamily="34" charset="-120"/>
              </a:rPr>
              <a:t>The red block is the whole problem: the sun is gone by 19:00, and demand peaks from 18:00 to 21:00.</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8808415" cy="822960"/>
          </a:xfrm>
          <a:prstGeom prst="rect">
            <a:avLst/>
          </a:prstGeom>
          <a:noFill/>
          <a:ln/>
        </p:spPr>
        <p:txBody>
          <a:bodyPr wrap="square" lIns="0" tIns="0" rIns="0" bIns="0" rtlCol="0" anchor="t"/>
          <a:lstStyle/>
          <a:p>
            <a:pPr algn="l" indent="0" marL="0">
              <a:buNone/>
            </a:pPr>
            <a:r>
              <a:rPr lang="en-US" sz="2600" b="1" dirty="0">
                <a:solidFill>
                  <a:srgbClr val="0B2545"/>
                </a:solidFill>
                <a:latin typeface="Calibri" pitchFamily="34" charset="0"/>
                <a:ea typeface="Calibri" pitchFamily="34" charset="-122"/>
                <a:cs typeface="Calibri" pitchFamily="34" charset="-120"/>
              </a:rPr>
              <a:t>Demo 2: one click turns that fleet into a costed, hour-by-hour verdict.</a:t>
            </a:r>
            <a:endParaRPr lang="en-US" sz="2600" dirty="0"/>
          </a:p>
        </p:txBody>
      </p:sp>
      <p:sp>
        <p:nvSpPr>
          <p:cNvPr id="3" name="Text 1"/>
          <p:cNvSpPr/>
          <p:nvPr/>
        </p:nvSpPr>
        <p:spPr>
          <a:xfrm>
            <a:off x="9448495" y="384048"/>
            <a:ext cx="2194560" cy="274320"/>
          </a:xfrm>
          <a:prstGeom prst="rect">
            <a:avLst/>
          </a:prstGeom>
          <a:noFill/>
          <a:ln/>
        </p:spPr>
        <p:txBody>
          <a:bodyPr wrap="square" lIns="0" tIns="0" rIns="0" bIns="0" rtlCol="0" anchor="ctr"/>
          <a:lstStyle/>
          <a:p>
            <a:pPr algn="r" indent="0" marL="0">
              <a:buNone/>
            </a:pPr>
            <a:r>
              <a:rPr lang="en-US" sz="1100" dirty="0">
                <a:solidFill>
                  <a:srgbClr val="5A6B7C"/>
                </a:solidFill>
                <a:latin typeface="Calibri" pitchFamily="34" charset="0"/>
                <a:ea typeface="Calibri" pitchFamily="34" charset="-122"/>
                <a:cs typeface="Calibri" pitchFamily="34" charset="-120"/>
              </a:rPr>
              <a:t>Member 3  ·  5:10 - 6:00</a:t>
            </a:r>
            <a:endParaRPr lang="en-US" sz="1100" dirty="0"/>
          </a:p>
        </p:txBody>
      </p:sp>
      <p:sp>
        <p:nvSpPr>
          <p:cNvPr id="4" name="Shape 2"/>
          <p:cNvSpPr/>
          <p:nvPr/>
        </p:nvSpPr>
        <p:spPr>
          <a:xfrm>
            <a:off x="548640" y="1645920"/>
            <a:ext cx="6766560" cy="3657600"/>
          </a:xfrm>
          <a:prstGeom prst="roundRect">
            <a:avLst>
              <a:gd name="adj" fmla="val 2000"/>
            </a:avLst>
          </a:prstGeom>
          <a:solidFill>
            <a:srgbClr val="EEF2F6"/>
          </a:solidFill>
          <a:ln w="12700">
            <a:solidFill>
              <a:srgbClr val="EEF2F6"/>
            </a:solidFill>
            <a:prstDash val="solid"/>
          </a:ln>
        </p:spPr>
      </p:sp>
      <p:sp>
        <p:nvSpPr>
          <p:cNvPr id="5" name="Text 3"/>
          <p:cNvSpPr/>
          <p:nvPr/>
        </p:nvSpPr>
        <p:spPr>
          <a:xfrm>
            <a:off x="868680" y="1828800"/>
            <a:ext cx="2743200" cy="320040"/>
          </a:xfrm>
          <a:prstGeom prst="rect">
            <a:avLst/>
          </a:prstGeom>
          <a:noFill/>
          <a:ln/>
        </p:spPr>
        <p:txBody>
          <a:bodyPr wrap="square" lIns="0" tIns="0" rIns="0" bIns="0" rtlCol="0" anchor="ctr"/>
          <a:lstStyle/>
          <a:p>
            <a:pPr indent="0" marL="0">
              <a:buNone/>
            </a:pPr>
            <a:r>
              <a:rPr lang="en-US" sz="1400" b="1" dirty="0">
                <a:solidFill>
                  <a:srgbClr val="1B998B"/>
                </a:solidFill>
                <a:latin typeface="Calibri" pitchFamily="34" charset="0"/>
                <a:ea typeface="Calibri" pitchFamily="34" charset="-122"/>
                <a:cs typeface="Calibri" pitchFamily="34" charset="-120"/>
              </a:rPr>
              <a:t>On screen</a:t>
            </a:r>
            <a:endParaRPr lang="en-US" sz="1400" dirty="0"/>
          </a:p>
        </p:txBody>
      </p:sp>
      <p:sp>
        <p:nvSpPr>
          <p:cNvPr id="6" name="Text 4"/>
          <p:cNvSpPr/>
          <p:nvPr/>
        </p:nvSpPr>
        <p:spPr>
          <a:xfrm>
            <a:off x="868680" y="2240280"/>
            <a:ext cx="6126480" cy="28346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3303C"/>
                </a:solidFill>
                <a:latin typeface="Calibri" pitchFamily="34" charset="0"/>
                <a:ea typeface="Calibri" pitchFamily="34" charset="-122"/>
                <a:cs typeface="Calibri" pitchFamily="34" charset="-120"/>
              </a:rPr>
              <a:t>Open Simulation and click Run 24h Simulation.</a:t>
            </a:r>
            <a:endParaRPr lang="en-US" sz="1600" dirty="0"/>
          </a:p>
          <a:p>
            <a:pPr marL="342900" indent="-342900">
              <a:spcAft>
                <a:spcPts val="1000"/>
              </a:spcAft>
              <a:buSzPct val="100000"/>
              <a:buChar char="•"/>
            </a:pPr>
            <a:r>
              <a:rPr lang="en-US" sz="1600" dirty="0">
                <a:solidFill>
                  <a:srgbClr val="23303C"/>
                </a:solidFill>
                <a:latin typeface="Calibri" pitchFamily="34" charset="0"/>
                <a:ea typeface="Calibri" pitchFamily="34" charset="-122"/>
                <a:cs typeface="Calibri" pitchFamily="34" charset="-120"/>
              </a:rPr>
              <a:t>Five stat cards fill in: demand, cost, CO₂, renewable share, blackout hours.</a:t>
            </a:r>
            <a:endParaRPr lang="en-US" sz="1600" dirty="0"/>
          </a:p>
          <a:p>
            <a:pPr marL="342900" indent="-342900">
              <a:spcAft>
                <a:spcPts val="1000"/>
              </a:spcAft>
              <a:buSzPct val="100000"/>
              <a:buChar char="•"/>
            </a:pPr>
            <a:r>
              <a:rPr lang="en-US" sz="1600" dirty="0">
                <a:solidFill>
                  <a:srgbClr val="23303C"/>
                </a:solidFill>
                <a:latin typeface="Calibri" pitchFamily="34" charset="0"/>
                <a:ea typeface="Calibri" pitchFamily="34" charset="-122"/>
                <a:cs typeface="Calibri" pitchFamily="34" charset="-120"/>
              </a:rPr>
              <a:t>The chart underneath is painted by our own Java 2D code, not a library.</a:t>
            </a:r>
            <a:endParaRPr lang="en-US" sz="1600" dirty="0"/>
          </a:p>
          <a:p>
            <a:pPr marL="342900" indent="-342900">
              <a:spcAft>
                <a:spcPts val="1000"/>
              </a:spcAft>
              <a:buSzPct val="100000"/>
              <a:buChar char="•"/>
            </a:pPr>
            <a:r>
              <a:rPr lang="en-US" sz="1600" dirty="0">
                <a:solidFill>
                  <a:srgbClr val="23303C"/>
                </a:solidFill>
                <a:latin typeface="Calibri" pitchFamily="34" charset="0"/>
                <a:ea typeface="Calibri" pitchFamily="34" charset="-122"/>
                <a:cs typeface="Calibri" pitchFamily="34" charset="-120"/>
              </a:rPr>
              <a:t>The advice line reads the result and tells the user what to change.</a:t>
            </a:r>
            <a:endParaRPr lang="en-US" sz="1600" dirty="0"/>
          </a:p>
        </p:txBody>
      </p:sp>
      <p:sp>
        <p:nvSpPr>
          <p:cNvPr id="7" name="Shape 5"/>
          <p:cNvSpPr/>
          <p:nvPr/>
        </p:nvSpPr>
        <p:spPr>
          <a:xfrm>
            <a:off x="7635240" y="1645920"/>
            <a:ext cx="4023360" cy="3657600"/>
          </a:xfrm>
          <a:prstGeom prst="roundRect">
            <a:avLst>
              <a:gd name="adj" fmla="val 2000"/>
            </a:avLst>
          </a:prstGeom>
          <a:solidFill>
            <a:srgbClr val="F6F9FB"/>
          </a:solidFill>
          <a:ln w="12700">
            <a:solidFill>
              <a:srgbClr val="F6F9FB"/>
            </a:solidFill>
            <a:prstDash val="solid"/>
          </a:ln>
        </p:spPr>
      </p:sp>
      <p:sp>
        <p:nvSpPr>
          <p:cNvPr id="8" name="Text 6"/>
          <p:cNvSpPr/>
          <p:nvPr/>
        </p:nvSpPr>
        <p:spPr>
          <a:xfrm>
            <a:off x="7909560" y="1828800"/>
            <a:ext cx="3474720" cy="320040"/>
          </a:xfrm>
          <a:prstGeom prst="rect">
            <a:avLst/>
          </a:prstGeom>
          <a:noFill/>
          <a:ln/>
        </p:spPr>
        <p:txBody>
          <a:bodyPr wrap="square" lIns="0" tIns="0" rIns="0" bIns="0" rtlCol="0" anchor="ctr"/>
          <a:lstStyle/>
          <a:p>
            <a:pPr indent="0" marL="0">
              <a:buNone/>
            </a:pPr>
            <a:r>
              <a:rPr lang="en-US" sz="1400" b="1" dirty="0">
                <a:solidFill>
                  <a:srgbClr val="F4A300"/>
                </a:solidFill>
                <a:latin typeface="Calibri" pitchFamily="34" charset="0"/>
                <a:ea typeface="Calibri" pitchFamily="34" charset="-122"/>
                <a:cs typeface="Calibri" pitchFamily="34" charset="-120"/>
              </a:rPr>
              <a:t>Say while clicking</a:t>
            </a:r>
            <a:endParaRPr lang="en-US" sz="1400" dirty="0"/>
          </a:p>
        </p:txBody>
      </p:sp>
      <p:sp>
        <p:nvSpPr>
          <p:cNvPr id="9" name="Text 7"/>
          <p:cNvSpPr/>
          <p:nvPr/>
        </p:nvSpPr>
        <p:spPr>
          <a:xfrm>
            <a:off x="7909560" y="2240280"/>
            <a:ext cx="3474720" cy="2834640"/>
          </a:xfrm>
          <a:prstGeom prst="rect">
            <a:avLst/>
          </a:prstGeom>
          <a:noFill/>
          <a:ln/>
        </p:spPr>
        <p:txBody>
          <a:bodyPr wrap="square" lIns="0" tIns="0" rIns="0" bIns="0" rtlCol="0" anchor="t"/>
          <a:lstStyle/>
          <a:p>
            <a:pPr indent="0" marL="0">
              <a:lnSpc>
                <a:spcPts val="2100"/>
              </a:lnSpc>
              <a:buNone/>
            </a:pPr>
            <a:r>
              <a:rPr lang="en-US" sz="1500" dirty="0">
                <a:solidFill>
                  <a:srgbClr val="0B2545"/>
                </a:solidFill>
                <a:latin typeface="Calibri" pitchFamily="34" charset="0"/>
                <a:ea typeface="Calibri" pitchFamily="34" charset="-122"/>
                <a:cs typeface="Calibri" pitchFamily="34" charset="-120"/>
              </a:rPr>
              <a:t>“Run it twice. The numbers move slightly because wind strength is drawn fresh every hour - that is deliberate. A real grid plan has to survive a bad wind day, not just an average one.”</a:t>
            </a:r>
            <a:endParaRPr lang="en-US" sz="1500" dirty="0"/>
          </a:p>
        </p:txBody>
      </p:sp>
      <p:sp>
        <p:nvSpPr>
          <p:cNvPr id="10" name="Text 8"/>
          <p:cNvSpPr/>
          <p:nvPr/>
        </p:nvSpPr>
        <p:spPr>
          <a:xfrm>
            <a:off x="548640" y="5532120"/>
            <a:ext cx="11094415" cy="320040"/>
          </a:xfrm>
          <a:prstGeom prst="rect">
            <a:avLst/>
          </a:prstGeom>
          <a:noFill/>
          <a:ln/>
        </p:spPr>
        <p:txBody>
          <a:bodyPr wrap="square" lIns="0" tIns="0" rIns="0" bIns="0" rtlCol="0" anchor="ctr"/>
          <a:lstStyle/>
          <a:p>
            <a:pPr indent="0" marL="0">
              <a:buNone/>
            </a:pPr>
            <a:r>
              <a:rPr lang="en-US" sz="1300" i="1" dirty="0">
                <a:solidFill>
                  <a:srgbClr val="5A6B7C"/>
                </a:solidFill>
                <a:latin typeface="Calibri" pitchFamily="34" charset="0"/>
                <a:ea typeface="Calibri" pitchFamily="34" charset="-122"/>
                <a:cs typeface="Calibri" pitchFamily="34" charset="-120"/>
              </a:rPr>
              <a:t>Then stay on this screen - the next slide is the fix, performed live.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8808415" cy="822960"/>
          </a:xfrm>
          <a:prstGeom prst="rect">
            <a:avLst/>
          </a:prstGeom>
          <a:noFill/>
          <a:ln/>
        </p:spPr>
        <p:txBody>
          <a:bodyPr wrap="square" lIns="0" tIns="0" rIns="0" bIns="0" rtlCol="0" anchor="t"/>
          <a:lstStyle/>
          <a:p>
            <a:pPr algn="l" indent="0" marL="0">
              <a:buNone/>
            </a:pPr>
            <a:r>
              <a:rPr lang="en-US" sz="2600" b="1" dirty="0">
                <a:solidFill>
                  <a:srgbClr val="0B2545"/>
                </a:solidFill>
                <a:latin typeface="Calibri" pitchFamily="34" charset="0"/>
                <a:ea typeface="Calibri" pitchFamily="34" charset="-122"/>
                <a:cs typeface="Calibri" pitchFamily="34" charset="-120"/>
              </a:rPr>
              <a:t>Taking the app's own advice removes every blackout hour - and halves the bill.</a:t>
            </a:r>
            <a:endParaRPr lang="en-US" sz="2600" dirty="0"/>
          </a:p>
        </p:txBody>
      </p:sp>
      <p:sp>
        <p:nvSpPr>
          <p:cNvPr id="3" name="Text 1"/>
          <p:cNvSpPr/>
          <p:nvPr/>
        </p:nvSpPr>
        <p:spPr>
          <a:xfrm>
            <a:off x="9448495" y="384048"/>
            <a:ext cx="2194560" cy="274320"/>
          </a:xfrm>
          <a:prstGeom prst="rect">
            <a:avLst/>
          </a:prstGeom>
          <a:noFill/>
          <a:ln/>
        </p:spPr>
        <p:txBody>
          <a:bodyPr wrap="square" lIns="0" tIns="0" rIns="0" bIns="0" rtlCol="0" anchor="ctr"/>
          <a:lstStyle/>
          <a:p>
            <a:pPr algn="r" indent="0" marL="0">
              <a:buNone/>
            </a:pPr>
            <a:r>
              <a:rPr lang="en-US" sz="1100" dirty="0">
                <a:solidFill>
                  <a:srgbClr val="5A6B7C"/>
                </a:solidFill>
                <a:latin typeface="Calibri" pitchFamily="34" charset="0"/>
                <a:ea typeface="Calibri" pitchFamily="34" charset="-122"/>
                <a:cs typeface="Calibri" pitchFamily="34" charset="-120"/>
              </a:rPr>
              <a:t>Member 3  ·  6:00 - 6:50</a:t>
            </a:r>
            <a:endParaRPr lang="en-US" sz="1100" dirty="0"/>
          </a:p>
        </p:txBody>
      </p:sp>
      <p:sp>
        <p:nvSpPr>
          <p:cNvPr id="4" name="Shape 2"/>
          <p:cNvSpPr/>
          <p:nvPr/>
        </p:nvSpPr>
        <p:spPr>
          <a:xfrm>
            <a:off x="548640" y="1600200"/>
            <a:ext cx="5349240" cy="3200400"/>
          </a:xfrm>
          <a:prstGeom prst="roundRect">
            <a:avLst>
              <a:gd name="adj" fmla="val 2286"/>
            </a:avLst>
          </a:prstGeom>
          <a:solidFill>
            <a:srgbClr val="F6F9FB"/>
          </a:solidFill>
          <a:ln w="12700">
            <a:solidFill>
              <a:srgbClr val="F6F9FB"/>
            </a:solidFill>
            <a:prstDash val="solid"/>
          </a:ln>
        </p:spPr>
      </p:sp>
      <p:sp>
        <p:nvSpPr>
          <p:cNvPr id="5" name="Text 3"/>
          <p:cNvSpPr/>
          <p:nvPr/>
        </p:nvSpPr>
        <p:spPr>
          <a:xfrm>
            <a:off x="868680" y="1783080"/>
            <a:ext cx="2743200" cy="320040"/>
          </a:xfrm>
          <a:prstGeom prst="rect">
            <a:avLst/>
          </a:prstGeom>
          <a:noFill/>
          <a:ln/>
        </p:spPr>
        <p:txBody>
          <a:bodyPr wrap="square" lIns="0" tIns="0" rIns="0" bIns="0" rtlCol="0" anchor="ctr"/>
          <a:lstStyle/>
          <a:p>
            <a:pPr indent="0" marL="0">
              <a:buNone/>
            </a:pPr>
            <a:r>
              <a:rPr lang="en-US" sz="1600" b="1" dirty="0">
                <a:solidFill>
                  <a:srgbClr val="5A6B7C"/>
                </a:solidFill>
                <a:latin typeface="Calibri" pitchFamily="34" charset="0"/>
                <a:ea typeface="Calibri" pitchFamily="34" charset="-122"/>
                <a:cs typeface="Calibri" pitchFamily="34" charset="-120"/>
              </a:rPr>
              <a:t>Before</a:t>
            </a:r>
            <a:endParaRPr lang="en-US" sz="1600" dirty="0"/>
          </a:p>
        </p:txBody>
      </p:sp>
      <p:sp>
        <p:nvSpPr>
          <p:cNvPr id="6" name="Text 4"/>
          <p:cNvSpPr/>
          <p:nvPr/>
        </p:nvSpPr>
        <p:spPr>
          <a:xfrm>
            <a:off x="868680" y="2084832"/>
            <a:ext cx="4114800" cy="274320"/>
          </a:xfrm>
          <a:prstGeom prst="rect">
            <a:avLst/>
          </a:prstGeom>
          <a:noFill/>
          <a:ln/>
        </p:spPr>
        <p:txBody>
          <a:bodyPr wrap="square" lIns="0" tIns="0" rIns="0" bIns="0" rtlCol="0" anchor="ctr"/>
          <a:lstStyle/>
          <a:p>
            <a:pPr indent="0" marL="0">
              <a:buNone/>
            </a:pPr>
            <a:r>
              <a:rPr lang="en-US" sz="1300" dirty="0">
                <a:solidFill>
                  <a:srgbClr val="5A6B7C"/>
                </a:solidFill>
                <a:latin typeface="Calibri" pitchFamily="34" charset="0"/>
                <a:ea typeface="Calibri" pitchFamily="34" charset="-122"/>
                <a:cs typeface="Calibri" pitchFamily="34" charset="-120"/>
              </a:rPr>
              <a:t>Cyberjaya preset as loaded</a:t>
            </a:r>
            <a:endParaRPr lang="en-US" sz="1300" dirty="0"/>
          </a:p>
        </p:txBody>
      </p:sp>
      <p:sp>
        <p:nvSpPr>
          <p:cNvPr id="7" name="Text 5"/>
          <p:cNvSpPr/>
          <p:nvPr/>
        </p:nvSpPr>
        <p:spPr>
          <a:xfrm>
            <a:off x="868680" y="2468880"/>
            <a:ext cx="2377440" cy="658368"/>
          </a:xfrm>
          <a:prstGeom prst="rect">
            <a:avLst/>
          </a:prstGeom>
          <a:noFill/>
          <a:ln/>
        </p:spPr>
        <p:txBody>
          <a:bodyPr wrap="square" lIns="0" tIns="0" rIns="0" bIns="0" rtlCol="0" anchor="ctr"/>
          <a:lstStyle/>
          <a:p>
            <a:pPr algn="l" indent="0" marL="0">
              <a:buNone/>
            </a:pPr>
            <a:r>
              <a:rPr lang="en-US" sz="4000" b="1" dirty="0">
                <a:solidFill>
                  <a:srgbClr val="C1272D"/>
                </a:solidFill>
                <a:latin typeface="Calibri" pitchFamily="34" charset="0"/>
                <a:ea typeface="Calibri" pitchFamily="34" charset="-122"/>
                <a:cs typeface="Calibri" pitchFamily="34" charset="-120"/>
              </a:rPr>
              <a:t>7 h</a:t>
            </a:r>
            <a:endParaRPr lang="en-US" sz="4000" dirty="0"/>
          </a:p>
        </p:txBody>
      </p:sp>
      <p:sp>
        <p:nvSpPr>
          <p:cNvPr id="8" name="Text 6"/>
          <p:cNvSpPr/>
          <p:nvPr/>
        </p:nvSpPr>
        <p:spPr>
          <a:xfrm>
            <a:off x="868680" y="3108960"/>
            <a:ext cx="2377440" cy="292608"/>
          </a:xfrm>
          <a:prstGeom prst="rect">
            <a:avLst/>
          </a:prstGeom>
          <a:noFill/>
          <a:ln/>
        </p:spPr>
        <p:txBody>
          <a:bodyPr wrap="square" lIns="0" tIns="0" rIns="0" bIns="0" rtlCol="0" anchor="ctr"/>
          <a:lstStyle/>
          <a:p>
            <a:pPr algn="l" indent="0" marL="0">
              <a:buNone/>
            </a:pPr>
            <a:r>
              <a:rPr lang="en-US" sz="1300" dirty="0">
                <a:solidFill>
                  <a:srgbClr val="5A6B7C"/>
                </a:solidFill>
                <a:latin typeface="Calibri" pitchFamily="34" charset="0"/>
                <a:ea typeface="Calibri" pitchFamily="34" charset="-122"/>
                <a:cs typeface="Calibri" pitchFamily="34" charset="-120"/>
              </a:rPr>
              <a:t>blackout risk</a:t>
            </a:r>
            <a:endParaRPr lang="en-US" sz="1300" dirty="0"/>
          </a:p>
        </p:txBody>
      </p:sp>
      <p:sp>
        <p:nvSpPr>
          <p:cNvPr id="9" name="Text 7"/>
          <p:cNvSpPr/>
          <p:nvPr/>
        </p:nvSpPr>
        <p:spPr>
          <a:xfrm>
            <a:off x="3383280" y="2468880"/>
            <a:ext cx="2377440" cy="658368"/>
          </a:xfrm>
          <a:prstGeom prst="rect">
            <a:avLst/>
          </a:prstGeom>
          <a:noFill/>
          <a:ln/>
        </p:spPr>
        <p:txBody>
          <a:bodyPr wrap="square" lIns="0" tIns="0" rIns="0" bIns="0" rtlCol="0" anchor="ctr"/>
          <a:lstStyle/>
          <a:p>
            <a:pPr algn="l" indent="0" marL="0">
              <a:buNone/>
            </a:pPr>
            <a:r>
              <a:rPr lang="en-US" sz="4000" b="1" dirty="0">
                <a:solidFill>
                  <a:srgbClr val="5A6B7C"/>
                </a:solidFill>
                <a:latin typeface="Calibri" pitchFamily="34" charset="0"/>
                <a:ea typeface="Calibri" pitchFamily="34" charset="-122"/>
                <a:cs typeface="Calibri" pitchFamily="34" charset="-120"/>
              </a:rPr>
              <a:t>50%</a:t>
            </a:r>
            <a:endParaRPr lang="en-US" sz="4000" dirty="0"/>
          </a:p>
        </p:txBody>
      </p:sp>
      <p:sp>
        <p:nvSpPr>
          <p:cNvPr id="10" name="Text 8"/>
          <p:cNvSpPr/>
          <p:nvPr/>
        </p:nvSpPr>
        <p:spPr>
          <a:xfrm>
            <a:off x="3383280" y="3108960"/>
            <a:ext cx="2377440" cy="292608"/>
          </a:xfrm>
          <a:prstGeom prst="rect">
            <a:avLst/>
          </a:prstGeom>
          <a:noFill/>
          <a:ln/>
        </p:spPr>
        <p:txBody>
          <a:bodyPr wrap="square" lIns="0" tIns="0" rIns="0" bIns="0" rtlCol="0" anchor="ctr"/>
          <a:lstStyle/>
          <a:p>
            <a:pPr algn="l" indent="0" marL="0">
              <a:buNone/>
            </a:pPr>
            <a:r>
              <a:rPr lang="en-US" sz="1300" dirty="0">
                <a:solidFill>
                  <a:srgbClr val="5A6B7C"/>
                </a:solidFill>
                <a:latin typeface="Calibri" pitchFamily="34" charset="0"/>
                <a:ea typeface="Calibri" pitchFamily="34" charset="-122"/>
                <a:cs typeface="Calibri" pitchFamily="34" charset="-120"/>
              </a:rPr>
              <a:t>renewable</a:t>
            </a:r>
            <a:endParaRPr lang="en-US" sz="1300" dirty="0"/>
          </a:p>
        </p:txBody>
      </p:sp>
      <p:sp>
        <p:nvSpPr>
          <p:cNvPr id="11" name="Text 9"/>
          <p:cNvSpPr/>
          <p:nvPr/>
        </p:nvSpPr>
        <p:spPr>
          <a:xfrm>
            <a:off x="868680" y="3749040"/>
            <a:ext cx="2377440" cy="658368"/>
          </a:xfrm>
          <a:prstGeom prst="rect">
            <a:avLst/>
          </a:prstGeom>
          <a:noFill/>
          <a:ln/>
        </p:spPr>
        <p:txBody>
          <a:bodyPr wrap="square" lIns="0" tIns="0" rIns="0" bIns="0" rtlCol="0" anchor="ctr"/>
          <a:lstStyle/>
          <a:p>
            <a:pPr algn="l" indent="0" marL="0">
              <a:buNone/>
            </a:pPr>
            <a:r>
              <a:rPr lang="en-US" sz="4000" b="1" dirty="0">
                <a:solidFill>
                  <a:srgbClr val="5A6B7C"/>
                </a:solidFill>
                <a:latin typeface="Calibri" pitchFamily="34" charset="0"/>
                <a:ea typeface="Calibri" pitchFamily="34" charset="-122"/>
                <a:cs typeface="Calibri" pitchFamily="34" charset="-120"/>
              </a:rPr>
              <a:t>365k</a:t>
            </a:r>
            <a:endParaRPr lang="en-US" sz="4000" dirty="0"/>
          </a:p>
        </p:txBody>
      </p:sp>
      <p:sp>
        <p:nvSpPr>
          <p:cNvPr id="12" name="Text 10"/>
          <p:cNvSpPr/>
          <p:nvPr/>
        </p:nvSpPr>
        <p:spPr>
          <a:xfrm>
            <a:off x="868680" y="4389120"/>
            <a:ext cx="2377440" cy="292608"/>
          </a:xfrm>
          <a:prstGeom prst="rect">
            <a:avLst/>
          </a:prstGeom>
          <a:noFill/>
          <a:ln/>
        </p:spPr>
        <p:txBody>
          <a:bodyPr wrap="square" lIns="0" tIns="0" rIns="0" bIns="0" rtlCol="0" anchor="ctr"/>
          <a:lstStyle/>
          <a:p>
            <a:pPr algn="l" indent="0" marL="0">
              <a:buNone/>
            </a:pPr>
            <a:r>
              <a:rPr lang="en-US" sz="1300" dirty="0">
                <a:solidFill>
                  <a:srgbClr val="5A6B7C"/>
                </a:solidFill>
                <a:latin typeface="Calibri" pitchFamily="34" charset="0"/>
                <a:ea typeface="Calibri" pitchFamily="34" charset="-122"/>
                <a:cs typeface="Calibri" pitchFamily="34" charset="-120"/>
              </a:rPr>
              <a:t>cost, RM per day</a:t>
            </a:r>
            <a:endParaRPr lang="en-US" sz="1300" dirty="0"/>
          </a:p>
        </p:txBody>
      </p:sp>
      <p:sp>
        <p:nvSpPr>
          <p:cNvPr id="13" name="Text 11"/>
          <p:cNvSpPr/>
          <p:nvPr/>
        </p:nvSpPr>
        <p:spPr>
          <a:xfrm>
            <a:off x="3383280" y="3749040"/>
            <a:ext cx="2377440" cy="658368"/>
          </a:xfrm>
          <a:prstGeom prst="rect">
            <a:avLst/>
          </a:prstGeom>
          <a:noFill/>
          <a:ln/>
        </p:spPr>
        <p:txBody>
          <a:bodyPr wrap="square" lIns="0" tIns="0" rIns="0" bIns="0" rtlCol="0" anchor="ctr"/>
          <a:lstStyle/>
          <a:p>
            <a:pPr algn="l" indent="0" marL="0">
              <a:buNone/>
            </a:pPr>
            <a:r>
              <a:rPr lang="en-US" sz="4000" b="1" dirty="0">
                <a:solidFill>
                  <a:srgbClr val="5A6B7C"/>
                </a:solidFill>
                <a:latin typeface="Calibri" pitchFamily="34" charset="0"/>
                <a:ea typeface="Calibri" pitchFamily="34" charset="-122"/>
                <a:cs typeface="Calibri" pitchFamily="34" charset="-120"/>
              </a:rPr>
              <a:t>524 t</a:t>
            </a:r>
            <a:endParaRPr lang="en-US" sz="4000" dirty="0"/>
          </a:p>
        </p:txBody>
      </p:sp>
      <p:sp>
        <p:nvSpPr>
          <p:cNvPr id="14" name="Text 12"/>
          <p:cNvSpPr/>
          <p:nvPr/>
        </p:nvSpPr>
        <p:spPr>
          <a:xfrm>
            <a:off x="3383280" y="4389120"/>
            <a:ext cx="2377440" cy="292608"/>
          </a:xfrm>
          <a:prstGeom prst="rect">
            <a:avLst/>
          </a:prstGeom>
          <a:noFill/>
          <a:ln/>
        </p:spPr>
        <p:txBody>
          <a:bodyPr wrap="square" lIns="0" tIns="0" rIns="0" bIns="0" rtlCol="0" anchor="ctr"/>
          <a:lstStyle/>
          <a:p>
            <a:pPr algn="l" indent="0" marL="0">
              <a:buNone/>
            </a:pPr>
            <a:r>
              <a:rPr lang="en-US" sz="1300" dirty="0">
                <a:solidFill>
                  <a:srgbClr val="5A6B7C"/>
                </a:solidFill>
                <a:latin typeface="Calibri" pitchFamily="34" charset="0"/>
                <a:ea typeface="Calibri" pitchFamily="34" charset="-122"/>
                <a:cs typeface="Calibri" pitchFamily="34" charset="-120"/>
              </a:rPr>
              <a:t>CO₂ per day</a:t>
            </a:r>
            <a:endParaRPr lang="en-US" sz="1300" dirty="0"/>
          </a:p>
        </p:txBody>
      </p:sp>
      <p:sp>
        <p:nvSpPr>
          <p:cNvPr id="15" name="Shape 13"/>
          <p:cNvSpPr/>
          <p:nvPr/>
        </p:nvSpPr>
        <p:spPr>
          <a:xfrm>
            <a:off x="6309360" y="1600200"/>
            <a:ext cx="5349240" cy="3200400"/>
          </a:xfrm>
          <a:prstGeom prst="roundRect">
            <a:avLst>
              <a:gd name="adj" fmla="val 2286"/>
            </a:avLst>
          </a:prstGeom>
          <a:solidFill>
            <a:srgbClr val="EAF6F3"/>
          </a:solidFill>
          <a:ln w="12700">
            <a:solidFill>
              <a:srgbClr val="EAF6F3"/>
            </a:solidFill>
            <a:prstDash val="solid"/>
          </a:ln>
        </p:spPr>
      </p:sp>
      <p:sp>
        <p:nvSpPr>
          <p:cNvPr id="16" name="Text 14"/>
          <p:cNvSpPr/>
          <p:nvPr/>
        </p:nvSpPr>
        <p:spPr>
          <a:xfrm>
            <a:off x="6629400" y="1783080"/>
            <a:ext cx="2743200" cy="320040"/>
          </a:xfrm>
          <a:prstGeom prst="rect">
            <a:avLst/>
          </a:prstGeom>
          <a:noFill/>
          <a:ln/>
        </p:spPr>
        <p:txBody>
          <a:bodyPr wrap="square" lIns="0" tIns="0" rIns="0" bIns="0" rtlCol="0" anchor="ctr"/>
          <a:lstStyle/>
          <a:p>
            <a:pPr indent="0" marL="0">
              <a:buNone/>
            </a:pPr>
            <a:r>
              <a:rPr lang="en-US" sz="1600" b="1" dirty="0">
                <a:solidFill>
                  <a:srgbClr val="1B998B"/>
                </a:solidFill>
                <a:latin typeface="Calibri" pitchFamily="34" charset="0"/>
                <a:ea typeface="Calibri" pitchFamily="34" charset="-122"/>
                <a:cs typeface="Calibri" pitchFamily="34" charset="-120"/>
              </a:rPr>
              <a:t>After</a:t>
            </a:r>
            <a:endParaRPr lang="en-US" sz="1600" dirty="0"/>
          </a:p>
        </p:txBody>
      </p:sp>
      <p:sp>
        <p:nvSpPr>
          <p:cNvPr id="17" name="Text 15"/>
          <p:cNvSpPr/>
          <p:nvPr/>
        </p:nvSpPr>
        <p:spPr>
          <a:xfrm>
            <a:off x="6629400" y="2084832"/>
            <a:ext cx="4114800" cy="274320"/>
          </a:xfrm>
          <a:prstGeom prst="rect">
            <a:avLst/>
          </a:prstGeom>
          <a:noFill/>
          <a:ln/>
        </p:spPr>
        <p:txBody>
          <a:bodyPr wrap="square" lIns="0" tIns="0" rIns="0" bIns="0" rtlCol="0" anchor="ctr"/>
          <a:lstStyle/>
          <a:p>
            <a:pPr indent="0" marL="0">
              <a:buNone/>
            </a:pPr>
            <a:r>
              <a:rPr lang="en-US" sz="1300" dirty="0">
                <a:solidFill>
                  <a:srgbClr val="1B998B"/>
                </a:solidFill>
                <a:latin typeface="Calibri" pitchFamily="34" charset="0"/>
                <a:ea typeface="Calibri" pitchFamily="34" charset="-122"/>
                <a:cs typeface="Calibri" pitchFamily="34" charset="-120"/>
              </a:rPr>
              <a:t>+ one 50 MW hydro plant</a:t>
            </a:r>
            <a:endParaRPr lang="en-US" sz="1300" dirty="0"/>
          </a:p>
        </p:txBody>
      </p:sp>
      <p:sp>
        <p:nvSpPr>
          <p:cNvPr id="18" name="Text 16"/>
          <p:cNvSpPr/>
          <p:nvPr/>
        </p:nvSpPr>
        <p:spPr>
          <a:xfrm>
            <a:off x="6629400" y="2468880"/>
            <a:ext cx="2377440" cy="658368"/>
          </a:xfrm>
          <a:prstGeom prst="rect">
            <a:avLst/>
          </a:prstGeom>
          <a:noFill/>
          <a:ln/>
        </p:spPr>
        <p:txBody>
          <a:bodyPr wrap="square" lIns="0" tIns="0" rIns="0" bIns="0" rtlCol="0" anchor="ctr"/>
          <a:lstStyle/>
          <a:p>
            <a:pPr algn="l" indent="0" marL="0">
              <a:buNone/>
            </a:pPr>
            <a:r>
              <a:rPr lang="en-US" sz="4000" b="1" dirty="0">
                <a:solidFill>
                  <a:srgbClr val="1B998B"/>
                </a:solidFill>
                <a:latin typeface="Calibri" pitchFamily="34" charset="0"/>
                <a:ea typeface="Calibri" pitchFamily="34" charset="-122"/>
                <a:cs typeface="Calibri" pitchFamily="34" charset="-120"/>
              </a:rPr>
              <a:t>0 h</a:t>
            </a:r>
            <a:endParaRPr lang="en-US" sz="4000" dirty="0"/>
          </a:p>
        </p:txBody>
      </p:sp>
      <p:sp>
        <p:nvSpPr>
          <p:cNvPr id="19" name="Text 17"/>
          <p:cNvSpPr/>
          <p:nvPr/>
        </p:nvSpPr>
        <p:spPr>
          <a:xfrm>
            <a:off x="6629400" y="3108960"/>
            <a:ext cx="2377440" cy="292608"/>
          </a:xfrm>
          <a:prstGeom prst="rect">
            <a:avLst/>
          </a:prstGeom>
          <a:noFill/>
          <a:ln/>
        </p:spPr>
        <p:txBody>
          <a:bodyPr wrap="square" lIns="0" tIns="0" rIns="0" bIns="0" rtlCol="0" anchor="ctr"/>
          <a:lstStyle/>
          <a:p>
            <a:pPr algn="l" indent="0" marL="0">
              <a:buNone/>
            </a:pPr>
            <a:r>
              <a:rPr lang="en-US" sz="1300" dirty="0">
                <a:solidFill>
                  <a:srgbClr val="5A6B7C"/>
                </a:solidFill>
                <a:latin typeface="Calibri" pitchFamily="34" charset="0"/>
                <a:ea typeface="Calibri" pitchFamily="34" charset="-122"/>
                <a:cs typeface="Calibri" pitchFamily="34" charset="-120"/>
              </a:rPr>
              <a:t>blackout risk</a:t>
            </a:r>
            <a:endParaRPr lang="en-US" sz="1300" dirty="0"/>
          </a:p>
        </p:txBody>
      </p:sp>
      <p:sp>
        <p:nvSpPr>
          <p:cNvPr id="20" name="Text 18"/>
          <p:cNvSpPr/>
          <p:nvPr/>
        </p:nvSpPr>
        <p:spPr>
          <a:xfrm>
            <a:off x="9144000" y="2468880"/>
            <a:ext cx="2377440" cy="658368"/>
          </a:xfrm>
          <a:prstGeom prst="rect">
            <a:avLst/>
          </a:prstGeom>
          <a:noFill/>
          <a:ln/>
        </p:spPr>
        <p:txBody>
          <a:bodyPr wrap="square" lIns="0" tIns="0" rIns="0" bIns="0" rtlCol="0" anchor="ctr"/>
          <a:lstStyle/>
          <a:p>
            <a:pPr algn="l" indent="0" marL="0">
              <a:buNone/>
            </a:pPr>
            <a:r>
              <a:rPr lang="en-US" sz="4000" b="1" dirty="0">
                <a:solidFill>
                  <a:srgbClr val="1B998B"/>
                </a:solidFill>
                <a:latin typeface="Calibri" pitchFamily="34" charset="0"/>
                <a:ea typeface="Calibri" pitchFamily="34" charset="-122"/>
                <a:cs typeface="Calibri" pitchFamily="34" charset="-120"/>
              </a:rPr>
              <a:t>91%</a:t>
            </a:r>
            <a:endParaRPr lang="en-US" sz="4000" dirty="0"/>
          </a:p>
        </p:txBody>
      </p:sp>
      <p:sp>
        <p:nvSpPr>
          <p:cNvPr id="21" name="Text 19"/>
          <p:cNvSpPr/>
          <p:nvPr/>
        </p:nvSpPr>
        <p:spPr>
          <a:xfrm>
            <a:off x="9144000" y="3108960"/>
            <a:ext cx="2377440" cy="292608"/>
          </a:xfrm>
          <a:prstGeom prst="rect">
            <a:avLst/>
          </a:prstGeom>
          <a:noFill/>
          <a:ln/>
        </p:spPr>
        <p:txBody>
          <a:bodyPr wrap="square" lIns="0" tIns="0" rIns="0" bIns="0" rtlCol="0" anchor="ctr"/>
          <a:lstStyle/>
          <a:p>
            <a:pPr algn="l" indent="0" marL="0">
              <a:buNone/>
            </a:pPr>
            <a:r>
              <a:rPr lang="en-US" sz="1300" dirty="0">
                <a:solidFill>
                  <a:srgbClr val="5A6B7C"/>
                </a:solidFill>
                <a:latin typeface="Calibri" pitchFamily="34" charset="0"/>
                <a:ea typeface="Calibri" pitchFamily="34" charset="-122"/>
                <a:cs typeface="Calibri" pitchFamily="34" charset="-120"/>
              </a:rPr>
              <a:t>renewable</a:t>
            </a:r>
            <a:endParaRPr lang="en-US" sz="1300" dirty="0"/>
          </a:p>
        </p:txBody>
      </p:sp>
      <p:sp>
        <p:nvSpPr>
          <p:cNvPr id="22" name="Text 20"/>
          <p:cNvSpPr/>
          <p:nvPr/>
        </p:nvSpPr>
        <p:spPr>
          <a:xfrm>
            <a:off x="6629400" y="3749040"/>
            <a:ext cx="2377440" cy="658368"/>
          </a:xfrm>
          <a:prstGeom prst="rect">
            <a:avLst/>
          </a:prstGeom>
          <a:noFill/>
          <a:ln/>
        </p:spPr>
        <p:txBody>
          <a:bodyPr wrap="square" lIns="0" tIns="0" rIns="0" bIns="0" rtlCol="0" anchor="ctr"/>
          <a:lstStyle/>
          <a:p>
            <a:pPr algn="l" indent="0" marL="0">
              <a:buNone/>
            </a:pPr>
            <a:r>
              <a:rPr lang="en-US" sz="4000" b="1" dirty="0">
                <a:solidFill>
                  <a:srgbClr val="1B998B"/>
                </a:solidFill>
                <a:latin typeface="Calibri" pitchFamily="34" charset="0"/>
                <a:ea typeface="Calibri" pitchFamily="34" charset="-122"/>
                <a:cs typeface="Calibri" pitchFamily="34" charset="-120"/>
              </a:rPr>
              <a:t>199k</a:t>
            </a:r>
            <a:endParaRPr lang="en-US" sz="4000" dirty="0"/>
          </a:p>
        </p:txBody>
      </p:sp>
      <p:sp>
        <p:nvSpPr>
          <p:cNvPr id="23" name="Text 21"/>
          <p:cNvSpPr/>
          <p:nvPr/>
        </p:nvSpPr>
        <p:spPr>
          <a:xfrm>
            <a:off x="6629400" y="4389120"/>
            <a:ext cx="2377440" cy="292608"/>
          </a:xfrm>
          <a:prstGeom prst="rect">
            <a:avLst/>
          </a:prstGeom>
          <a:noFill/>
          <a:ln/>
        </p:spPr>
        <p:txBody>
          <a:bodyPr wrap="square" lIns="0" tIns="0" rIns="0" bIns="0" rtlCol="0" anchor="ctr"/>
          <a:lstStyle/>
          <a:p>
            <a:pPr algn="l" indent="0" marL="0">
              <a:buNone/>
            </a:pPr>
            <a:r>
              <a:rPr lang="en-US" sz="1300" dirty="0">
                <a:solidFill>
                  <a:srgbClr val="5A6B7C"/>
                </a:solidFill>
                <a:latin typeface="Calibri" pitchFamily="34" charset="0"/>
                <a:ea typeface="Calibri" pitchFamily="34" charset="-122"/>
                <a:cs typeface="Calibri" pitchFamily="34" charset="-120"/>
              </a:rPr>
              <a:t>cost, RM per day</a:t>
            </a:r>
            <a:endParaRPr lang="en-US" sz="1300" dirty="0"/>
          </a:p>
        </p:txBody>
      </p:sp>
      <p:sp>
        <p:nvSpPr>
          <p:cNvPr id="24" name="Text 22"/>
          <p:cNvSpPr/>
          <p:nvPr/>
        </p:nvSpPr>
        <p:spPr>
          <a:xfrm>
            <a:off x="9144000" y="3749040"/>
            <a:ext cx="2377440" cy="658368"/>
          </a:xfrm>
          <a:prstGeom prst="rect">
            <a:avLst/>
          </a:prstGeom>
          <a:noFill/>
          <a:ln/>
        </p:spPr>
        <p:txBody>
          <a:bodyPr wrap="square" lIns="0" tIns="0" rIns="0" bIns="0" rtlCol="0" anchor="ctr"/>
          <a:lstStyle/>
          <a:p>
            <a:pPr algn="l" indent="0" marL="0">
              <a:buNone/>
            </a:pPr>
            <a:r>
              <a:rPr lang="en-US" sz="4000" b="1" dirty="0">
                <a:solidFill>
                  <a:srgbClr val="1B998B"/>
                </a:solidFill>
                <a:latin typeface="Calibri" pitchFamily="34" charset="0"/>
                <a:ea typeface="Calibri" pitchFamily="34" charset="-122"/>
                <a:cs typeface="Calibri" pitchFamily="34" charset="-120"/>
              </a:rPr>
              <a:t>99 t</a:t>
            </a:r>
            <a:endParaRPr lang="en-US" sz="4000" dirty="0"/>
          </a:p>
        </p:txBody>
      </p:sp>
      <p:sp>
        <p:nvSpPr>
          <p:cNvPr id="25" name="Text 23"/>
          <p:cNvSpPr/>
          <p:nvPr/>
        </p:nvSpPr>
        <p:spPr>
          <a:xfrm>
            <a:off x="9144000" y="4389120"/>
            <a:ext cx="2377440" cy="292608"/>
          </a:xfrm>
          <a:prstGeom prst="rect">
            <a:avLst/>
          </a:prstGeom>
          <a:noFill/>
          <a:ln/>
        </p:spPr>
        <p:txBody>
          <a:bodyPr wrap="square" lIns="0" tIns="0" rIns="0" bIns="0" rtlCol="0" anchor="ctr"/>
          <a:lstStyle/>
          <a:p>
            <a:pPr algn="l" indent="0" marL="0">
              <a:buNone/>
            </a:pPr>
            <a:r>
              <a:rPr lang="en-US" sz="1300" dirty="0">
                <a:solidFill>
                  <a:srgbClr val="5A6B7C"/>
                </a:solidFill>
                <a:latin typeface="Calibri" pitchFamily="34" charset="0"/>
                <a:ea typeface="Calibri" pitchFamily="34" charset="-122"/>
                <a:cs typeface="Calibri" pitchFamily="34" charset="-120"/>
              </a:rPr>
              <a:t>CO₂ per day</a:t>
            </a:r>
            <a:endParaRPr lang="en-US" sz="1300" dirty="0"/>
          </a:p>
        </p:txBody>
      </p:sp>
      <p:sp>
        <p:nvSpPr>
          <p:cNvPr id="26" name="Text 24"/>
          <p:cNvSpPr/>
          <p:nvPr/>
        </p:nvSpPr>
        <p:spPr>
          <a:xfrm>
            <a:off x="548640" y="5029200"/>
            <a:ext cx="11094415" cy="640080"/>
          </a:xfrm>
          <a:prstGeom prst="rect">
            <a:avLst/>
          </a:prstGeom>
          <a:noFill/>
          <a:ln/>
        </p:spPr>
        <p:txBody>
          <a:bodyPr wrap="square" lIns="0" tIns="0" rIns="0" bIns="0" rtlCol="0" anchor="ctr"/>
          <a:lstStyle/>
          <a:p>
            <a:pPr indent="0" marL="0">
              <a:lnSpc>
                <a:spcPts val="2200"/>
              </a:lnSpc>
              <a:buNone/>
            </a:pPr>
            <a:r>
              <a:rPr lang="en-US" sz="1600" dirty="0">
                <a:solidFill>
                  <a:srgbClr val="0B2545"/>
                </a:solidFill>
                <a:latin typeface="Calibri" pitchFamily="34" charset="0"/>
                <a:ea typeface="Calibri" pitchFamily="34" charset="-122"/>
                <a:cs typeface="Calibri" pitchFamily="34" charset="-120"/>
              </a:rPr>
              <a:t>Clean and dispatchable beats clean alone: adding more solar never fixed the evening peak, because the shortfall happens after sunset. The simulator made that obvious in one run.</a:t>
            </a:r>
            <a:endParaRPr lang="en-US" sz="1600" dirty="0"/>
          </a:p>
        </p:txBody>
      </p:sp>
      <p:sp>
        <p:nvSpPr>
          <p:cNvPr id="27" name="Text 25"/>
          <p:cNvSpPr/>
          <p:nvPr/>
        </p:nvSpPr>
        <p:spPr>
          <a:xfrm>
            <a:off x="548640" y="5943600"/>
            <a:ext cx="11094415" cy="320040"/>
          </a:xfrm>
          <a:prstGeom prst="rect">
            <a:avLst/>
          </a:prstGeom>
          <a:noFill/>
          <a:ln/>
        </p:spPr>
        <p:txBody>
          <a:bodyPr wrap="square" lIns="0" tIns="0" rIns="0" bIns="0" rtlCol="0" anchor="ctr"/>
          <a:lstStyle/>
          <a:p>
            <a:pPr indent="0" marL="0">
              <a:buNone/>
            </a:pPr>
            <a:r>
              <a:rPr lang="en-US" sz="1100" dirty="0">
                <a:solidFill>
                  <a:srgbClr val="5A6B7C"/>
                </a:solidFill>
                <a:latin typeface="Calibri" pitchFamily="34" charset="0"/>
                <a:ea typeface="Calibri" pitchFamily="34" charset="-122"/>
                <a:cs typeface="Calibri" pitchFamily="34" charset="-120"/>
              </a:rPr>
              <a:t>Figures from GridWise runs on the Cyberjaya preset (peak demand 120 MW). Wind is random, so values vary by a few percent between runs.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8808415" cy="822960"/>
          </a:xfrm>
          <a:prstGeom prst="rect">
            <a:avLst/>
          </a:prstGeom>
          <a:noFill/>
          <a:ln/>
        </p:spPr>
        <p:txBody>
          <a:bodyPr wrap="square" lIns="0" tIns="0" rIns="0" bIns="0" rtlCol="0" anchor="t"/>
          <a:lstStyle/>
          <a:p>
            <a:pPr algn="l" indent="0" marL="0">
              <a:buNone/>
            </a:pPr>
            <a:r>
              <a:rPr lang="en-US" sz="2600" b="1" dirty="0">
                <a:solidFill>
                  <a:srgbClr val="0B2545"/>
                </a:solidFill>
                <a:latin typeface="Calibri" pitchFamily="34" charset="0"/>
                <a:ea typeface="Calibri" pitchFamily="34" charset="-122"/>
                <a:cs typeface="Calibri" pitchFamily="34" charset="-120"/>
              </a:rPr>
              <a:t>Demo 3: the report survives the session - and speaks the audience's currency.</a:t>
            </a:r>
            <a:endParaRPr lang="en-US" sz="2600" dirty="0"/>
          </a:p>
        </p:txBody>
      </p:sp>
      <p:sp>
        <p:nvSpPr>
          <p:cNvPr id="3" name="Text 1"/>
          <p:cNvSpPr/>
          <p:nvPr/>
        </p:nvSpPr>
        <p:spPr>
          <a:xfrm>
            <a:off x="9448495" y="384048"/>
            <a:ext cx="2194560" cy="274320"/>
          </a:xfrm>
          <a:prstGeom prst="rect">
            <a:avLst/>
          </a:prstGeom>
          <a:noFill/>
          <a:ln/>
        </p:spPr>
        <p:txBody>
          <a:bodyPr wrap="square" lIns="0" tIns="0" rIns="0" bIns="0" rtlCol="0" anchor="ctr"/>
          <a:lstStyle/>
          <a:p>
            <a:pPr algn="r" indent="0" marL="0">
              <a:buNone/>
            </a:pPr>
            <a:r>
              <a:rPr lang="en-US" sz="1100" dirty="0">
                <a:solidFill>
                  <a:srgbClr val="5A6B7C"/>
                </a:solidFill>
                <a:latin typeface="Calibri" pitchFamily="34" charset="0"/>
                <a:ea typeface="Calibri" pitchFamily="34" charset="-122"/>
                <a:cs typeface="Calibri" pitchFamily="34" charset="-120"/>
              </a:rPr>
              <a:t>Member 4  ·  6:50 - 7:40</a:t>
            </a:r>
            <a:endParaRPr lang="en-US" sz="1100" dirty="0"/>
          </a:p>
        </p:txBody>
      </p:sp>
      <p:sp>
        <p:nvSpPr>
          <p:cNvPr id="4" name="Shape 2"/>
          <p:cNvSpPr/>
          <p:nvPr/>
        </p:nvSpPr>
        <p:spPr>
          <a:xfrm>
            <a:off x="548640" y="1645920"/>
            <a:ext cx="11094415" cy="960120"/>
          </a:xfrm>
          <a:prstGeom prst="roundRect">
            <a:avLst>
              <a:gd name="adj" fmla="val 7619"/>
            </a:avLst>
          </a:prstGeom>
          <a:solidFill>
            <a:srgbClr val="EEF2F6"/>
          </a:solidFill>
          <a:ln w="12700">
            <a:solidFill>
              <a:srgbClr val="EEF2F6"/>
            </a:solidFill>
            <a:prstDash val="solid"/>
          </a:ln>
        </p:spPr>
      </p:sp>
      <p:sp>
        <p:nvSpPr>
          <p:cNvPr id="5" name="Text 3"/>
          <p:cNvSpPr/>
          <p:nvPr/>
        </p:nvSpPr>
        <p:spPr>
          <a:xfrm>
            <a:off x="822960" y="1792224"/>
            <a:ext cx="2651760" cy="640080"/>
          </a:xfrm>
          <a:prstGeom prst="rect">
            <a:avLst/>
          </a:prstGeom>
          <a:noFill/>
          <a:ln/>
        </p:spPr>
        <p:txBody>
          <a:bodyPr wrap="square" lIns="0" tIns="0" rIns="0" bIns="0" rtlCol="0" anchor="ctr"/>
          <a:lstStyle/>
          <a:p>
            <a:pPr indent="0" marL="0">
              <a:buNone/>
            </a:pPr>
            <a:r>
              <a:rPr lang="en-US" sz="1800" b="1" dirty="0">
                <a:solidFill>
                  <a:srgbClr val="1B998B"/>
                </a:solidFill>
                <a:latin typeface="Calibri" pitchFamily="34" charset="0"/>
                <a:ea typeface="Calibri" pitchFamily="34" charset="-122"/>
                <a:cs typeface="Calibri" pitchFamily="34" charset="-120"/>
              </a:rPr>
              <a:t>Save &amp; load</a:t>
            </a:r>
            <a:endParaRPr lang="en-US" sz="1800" dirty="0"/>
          </a:p>
        </p:txBody>
      </p:sp>
      <p:sp>
        <p:nvSpPr>
          <p:cNvPr id="6" name="Text 4"/>
          <p:cNvSpPr/>
          <p:nvPr/>
        </p:nvSpPr>
        <p:spPr>
          <a:xfrm>
            <a:off x="3566160" y="1792224"/>
            <a:ext cx="7802575" cy="640080"/>
          </a:xfrm>
          <a:prstGeom prst="rect">
            <a:avLst/>
          </a:prstGeom>
          <a:noFill/>
          <a:ln/>
        </p:spPr>
        <p:txBody>
          <a:bodyPr wrap="square" lIns="0" tIns="0" rIns="0" bIns="0" rtlCol="0" anchor="ctr"/>
          <a:lstStyle/>
          <a:p>
            <a:pPr indent="0" marL="0">
              <a:buNone/>
            </a:pPr>
            <a:r>
              <a:rPr lang="en-US" sz="1600" dirty="0">
                <a:solidFill>
                  <a:srgbClr val="23303C"/>
                </a:solidFill>
                <a:latin typeface="Calibri" pitchFamily="34" charset="0"/>
                <a:ea typeface="Calibri" pitchFamily="34" charset="-122"/>
                <a:cs typeface="Calibri" pitchFamily="34" charset="-120"/>
              </a:rPr>
              <a:t>The fleet is written to grid_sources.csv and the correct subclass is rebuilt on load.</a:t>
            </a:r>
            <a:endParaRPr lang="en-US" sz="1600" dirty="0"/>
          </a:p>
        </p:txBody>
      </p:sp>
      <p:sp>
        <p:nvSpPr>
          <p:cNvPr id="7" name="Shape 5"/>
          <p:cNvSpPr/>
          <p:nvPr/>
        </p:nvSpPr>
        <p:spPr>
          <a:xfrm>
            <a:off x="548640" y="2743200"/>
            <a:ext cx="11094415" cy="960120"/>
          </a:xfrm>
          <a:prstGeom prst="roundRect">
            <a:avLst>
              <a:gd name="adj" fmla="val 7619"/>
            </a:avLst>
          </a:prstGeom>
          <a:solidFill>
            <a:srgbClr val="EEF2F6"/>
          </a:solidFill>
          <a:ln w="12700">
            <a:solidFill>
              <a:srgbClr val="EEF2F6"/>
            </a:solidFill>
            <a:prstDash val="solid"/>
          </a:ln>
        </p:spPr>
      </p:sp>
      <p:sp>
        <p:nvSpPr>
          <p:cNvPr id="8" name="Text 6"/>
          <p:cNvSpPr/>
          <p:nvPr/>
        </p:nvSpPr>
        <p:spPr>
          <a:xfrm>
            <a:off x="822960" y="2889504"/>
            <a:ext cx="2651760" cy="640080"/>
          </a:xfrm>
          <a:prstGeom prst="rect">
            <a:avLst/>
          </a:prstGeom>
          <a:noFill/>
          <a:ln/>
        </p:spPr>
        <p:txBody>
          <a:bodyPr wrap="square" lIns="0" tIns="0" rIns="0" bIns="0" rtlCol="0" anchor="ctr"/>
          <a:lstStyle/>
          <a:p>
            <a:pPr indent="0" marL="0">
              <a:buNone/>
            </a:pPr>
            <a:r>
              <a:rPr lang="en-US" sz="1800" b="1" dirty="0">
                <a:solidFill>
                  <a:srgbClr val="1B998B"/>
                </a:solidFill>
                <a:latin typeface="Calibri" pitchFamily="34" charset="0"/>
                <a:ea typeface="Calibri" pitchFamily="34" charset="-122"/>
                <a:cs typeface="Calibri" pitchFamily="34" charset="-120"/>
              </a:rPr>
              <a:t>Export Report</a:t>
            </a:r>
            <a:endParaRPr lang="en-US" sz="1800" dirty="0"/>
          </a:p>
        </p:txBody>
      </p:sp>
      <p:sp>
        <p:nvSpPr>
          <p:cNvPr id="9" name="Text 7"/>
          <p:cNvSpPr/>
          <p:nvPr/>
        </p:nvSpPr>
        <p:spPr>
          <a:xfrm>
            <a:off x="3566160" y="2889504"/>
            <a:ext cx="7802575" cy="640080"/>
          </a:xfrm>
          <a:prstGeom prst="rect">
            <a:avLst/>
          </a:prstGeom>
          <a:noFill/>
          <a:ln/>
        </p:spPr>
        <p:txBody>
          <a:bodyPr wrap="square" lIns="0" tIns="0" rIns="0" bIns="0" rtlCol="0" anchor="ctr"/>
          <a:lstStyle/>
          <a:p>
            <a:pPr indent="0" marL="0">
              <a:buNone/>
            </a:pPr>
            <a:r>
              <a:rPr lang="en-US" sz="1600" dirty="0">
                <a:solidFill>
                  <a:srgbClr val="23303C"/>
                </a:solidFill>
                <a:latin typeface="Calibri" pitchFamily="34" charset="0"/>
                <a:ea typeface="Calibri" pitchFamily="34" charset="-122"/>
                <a:cs typeface="Calibri" pitchFamily="34" charset="-120"/>
              </a:rPr>
              <a:t>The full 24-hour breakdown and the advice go to simulation_report.txt.</a:t>
            </a:r>
            <a:endParaRPr lang="en-US" sz="1600" dirty="0"/>
          </a:p>
        </p:txBody>
      </p:sp>
      <p:sp>
        <p:nvSpPr>
          <p:cNvPr id="10" name="Shape 8"/>
          <p:cNvSpPr/>
          <p:nvPr/>
        </p:nvSpPr>
        <p:spPr>
          <a:xfrm>
            <a:off x="548640" y="3840480"/>
            <a:ext cx="11094415" cy="960120"/>
          </a:xfrm>
          <a:prstGeom prst="roundRect">
            <a:avLst>
              <a:gd name="adj" fmla="val 7619"/>
            </a:avLst>
          </a:prstGeom>
          <a:solidFill>
            <a:srgbClr val="EEF2F6"/>
          </a:solidFill>
          <a:ln w="12700">
            <a:solidFill>
              <a:srgbClr val="EEF2F6"/>
            </a:solidFill>
            <a:prstDash val="solid"/>
          </a:ln>
        </p:spPr>
      </p:sp>
      <p:sp>
        <p:nvSpPr>
          <p:cNvPr id="11" name="Text 9"/>
          <p:cNvSpPr/>
          <p:nvPr/>
        </p:nvSpPr>
        <p:spPr>
          <a:xfrm>
            <a:off x="822960" y="3986784"/>
            <a:ext cx="2651760" cy="640080"/>
          </a:xfrm>
          <a:prstGeom prst="rect">
            <a:avLst/>
          </a:prstGeom>
          <a:noFill/>
          <a:ln/>
        </p:spPr>
        <p:txBody>
          <a:bodyPr wrap="square" lIns="0" tIns="0" rIns="0" bIns="0" rtlCol="0" anchor="ctr"/>
          <a:lstStyle/>
          <a:p>
            <a:pPr indent="0" marL="0">
              <a:buNone/>
            </a:pPr>
            <a:r>
              <a:rPr lang="en-US" sz="1800" b="1" dirty="0">
                <a:solidFill>
                  <a:srgbClr val="F4A300"/>
                </a:solidFill>
                <a:latin typeface="Calibri" pitchFamily="34" charset="0"/>
                <a:ea typeface="Calibri" pitchFamily="34" charset="-122"/>
                <a:cs typeface="Calibri" pitchFamily="34" charset="-120"/>
              </a:rPr>
              <a:t>Nine currencies</a:t>
            </a:r>
            <a:endParaRPr lang="en-US" sz="1800" dirty="0"/>
          </a:p>
        </p:txBody>
      </p:sp>
      <p:sp>
        <p:nvSpPr>
          <p:cNvPr id="12" name="Text 10"/>
          <p:cNvSpPr/>
          <p:nvPr/>
        </p:nvSpPr>
        <p:spPr>
          <a:xfrm>
            <a:off x="3566160" y="3986784"/>
            <a:ext cx="7802575" cy="640080"/>
          </a:xfrm>
          <a:prstGeom prst="rect">
            <a:avLst/>
          </a:prstGeom>
          <a:noFill/>
          <a:ln/>
        </p:spPr>
        <p:txBody>
          <a:bodyPr wrap="square" lIns="0" tIns="0" rIns="0" bIns="0" rtlCol="0" anchor="ctr"/>
          <a:lstStyle/>
          <a:p>
            <a:pPr indent="0" marL="0">
              <a:buNone/>
            </a:pPr>
            <a:r>
              <a:rPr lang="en-US" sz="1600" dirty="0">
                <a:solidFill>
                  <a:srgbClr val="23303C"/>
                </a:solidFill>
                <a:latin typeface="Calibri" pitchFamily="34" charset="0"/>
                <a:ea typeface="Calibri" pitchFamily="34" charset="-122"/>
                <a:cs typeface="Calibri" pitchFamily="34" charset="-120"/>
              </a:rPr>
              <a:t>The same run read in MYR, USD, EUR, GBP, SGD, AUD, CNY, JPY or INR - display only.</a:t>
            </a:r>
            <a:endParaRPr lang="en-US" sz="1600" dirty="0"/>
          </a:p>
        </p:txBody>
      </p:sp>
      <p:sp>
        <p:nvSpPr>
          <p:cNvPr id="13" name="Shape 11"/>
          <p:cNvSpPr/>
          <p:nvPr/>
        </p:nvSpPr>
        <p:spPr>
          <a:xfrm>
            <a:off x="548640" y="4937760"/>
            <a:ext cx="11094415" cy="960120"/>
          </a:xfrm>
          <a:prstGeom prst="roundRect">
            <a:avLst>
              <a:gd name="adj" fmla="val 7619"/>
            </a:avLst>
          </a:prstGeom>
          <a:solidFill>
            <a:srgbClr val="EEF2F6"/>
          </a:solidFill>
          <a:ln w="12700">
            <a:solidFill>
              <a:srgbClr val="EEF2F6"/>
            </a:solidFill>
            <a:prstDash val="solid"/>
          </a:ln>
        </p:spPr>
      </p:sp>
      <p:sp>
        <p:nvSpPr>
          <p:cNvPr id="14" name="Text 12"/>
          <p:cNvSpPr/>
          <p:nvPr/>
        </p:nvSpPr>
        <p:spPr>
          <a:xfrm>
            <a:off x="822960" y="5084064"/>
            <a:ext cx="2651760" cy="640080"/>
          </a:xfrm>
          <a:prstGeom prst="rect">
            <a:avLst/>
          </a:prstGeom>
          <a:noFill/>
          <a:ln/>
        </p:spPr>
        <p:txBody>
          <a:bodyPr wrap="square" lIns="0" tIns="0" rIns="0" bIns="0" rtlCol="0" anchor="ctr"/>
          <a:lstStyle/>
          <a:p>
            <a:pPr indent="0" marL="0">
              <a:buNone/>
            </a:pPr>
            <a:r>
              <a:rPr lang="en-US" sz="1800" b="1" dirty="0">
                <a:solidFill>
                  <a:srgbClr val="0B2545"/>
                </a:solidFill>
                <a:latin typeface="Calibri" pitchFamily="34" charset="0"/>
                <a:ea typeface="Calibri" pitchFamily="34" charset="-122"/>
                <a:cs typeface="Calibri" pitchFamily="34" charset="-120"/>
              </a:rPr>
              <a:t>Light and dark</a:t>
            </a:r>
            <a:endParaRPr lang="en-US" sz="1800" dirty="0"/>
          </a:p>
        </p:txBody>
      </p:sp>
      <p:sp>
        <p:nvSpPr>
          <p:cNvPr id="15" name="Text 13"/>
          <p:cNvSpPr/>
          <p:nvPr/>
        </p:nvSpPr>
        <p:spPr>
          <a:xfrm>
            <a:off x="3566160" y="5084064"/>
            <a:ext cx="7802575" cy="640080"/>
          </a:xfrm>
          <a:prstGeom prst="rect">
            <a:avLst/>
          </a:prstGeom>
          <a:noFill/>
          <a:ln/>
        </p:spPr>
        <p:txBody>
          <a:bodyPr wrap="square" lIns="0" tIns="0" rIns="0" bIns="0" rtlCol="0" anchor="ctr"/>
          <a:lstStyle/>
          <a:p>
            <a:pPr indent="0" marL="0">
              <a:buNone/>
            </a:pPr>
            <a:r>
              <a:rPr lang="en-US" sz="1600" dirty="0">
                <a:solidFill>
                  <a:srgbClr val="23303C"/>
                </a:solidFill>
                <a:latin typeface="Calibri" pitchFamily="34" charset="0"/>
                <a:ea typeface="Calibri" pitchFamily="34" charset="-122"/>
                <a:cs typeface="Calibri" pitchFamily="34" charset="-120"/>
              </a:rPr>
              <a:t>One Theme class repaints every panel at runtime; the logo is drawn in Java 2D.</a:t>
            </a:r>
            <a:endParaRPr lang="en-US" sz="1600" dirty="0"/>
          </a:p>
        </p:txBody>
      </p:sp>
      <p:sp>
        <p:nvSpPr>
          <p:cNvPr id="16" name="Text 14"/>
          <p:cNvSpPr/>
          <p:nvPr/>
        </p:nvSpPr>
        <p:spPr>
          <a:xfrm>
            <a:off x="548640" y="5989320"/>
            <a:ext cx="11094415" cy="320040"/>
          </a:xfrm>
          <a:prstGeom prst="rect">
            <a:avLst/>
          </a:prstGeom>
          <a:noFill/>
          <a:ln/>
        </p:spPr>
        <p:txBody>
          <a:bodyPr wrap="square" lIns="0" tIns="0" rIns="0" bIns="0" rtlCol="0" anchor="ctr"/>
          <a:lstStyle/>
          <a:p>
            <a:pPr indent="0" marL="0">
              <a:buNone/>
            </a:pPr>
            <a:r>
              <a:rPr lang="en-US" sz="1300" i="1" dirty="0">
                <a:solidFill>
                  <a:srgbClr val="5A6B7C"/>
                </a:solidFill>
                <a:latin typeface="Calibri" pitchFamily="34" charset="0"/>
                <a:ea typeface="Calibri" pitchFamily="34" charset="-122"/>
                <a:cs typeface="Calibri" pitchFamily="34" charset="-120"/>
              </a:rPr>
              <a:t>Currency is a display conversion, never a change to the simulation - the tariffs behind the model stay in ringgit.</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8808415" cy="822960"/>
          </a:xfrm>
          <a:prstGeom prst="rect">
            <a:avLst/>
          </a:prstGeom>
          <a:noFill/>
          <a:ln/>
        </p:spPr>
        <p:txBody>
          <a:bodyPr wrap="square" lIns="0" tIns="0" rIns="0" bIns="0" rtlCol="0" anchor="t"/>
          <a:lstStyle/>
          <a:p>
            <a:pPr algn="l" indent="0" marL="0">
              <a:buNone/>
            </a:pPr>
            <a:r>
              <a:rPr lang="en-US" sz="2600" b="1" dirty="0">
                <a:solidFill>
                  <a:srgbClr val="0B2545"/>
                </a:solidFill>
                <a:latin typeface="Calibri" pitchFamily="34" charset="0"/>
                <a:ea typeface="Calibri" pitchFamily="34" charset="-122"/>
                <a:cs typeface="Calibri" pitchFamily="34" charset="-120"/>
              </a:rPr>
              <a:t>GridWise makes the SDG 7 trade-off visible instead of theoretical.</a:t>
            </a:r>
            <a:endParaRPr lang="en-US" sz="2600" dirty="0"/>
          </a:p>
        </p:txBody>
      </p:sp>
      <p:sp>
        <p:nvSpPr>
          <p:cNvPr id="3" name="Text 1"/>
          <p:cNvSpPr/>
          <p:nvPr/>
        </p:nvSpPr>
        <p:spPr>
          <a:xfrm>
            <a:off x="9448495" y="384048"/>
            <a:ext cx="2194560" cy="274320"/>
          </a:xfrm>
          <a:prstGeom prst="rect">
            <a:avLst/>
          </a:prstGeom>
          <a:noFill/>
          <a:ln/>
        </p:spPr>
        <p:txBody>
          <a:bodyPr wrap="square" lIns="0" tIns="0" rIns="0" bIns="0" rtlCol="0" anchor="ctr"/>
          <a:lstStyle/>
          <a:p>
            <a:pPr algn="r" indent="0" marL="0">
              <a:buNone/>
            </a:pPr>
            <a:r>
              <a:rPr lang="en-US" sz="1100" dirty="0">
                <a:solidFill>
                  <a:srgbClr val="5A6B7C"/>
                </a:solidFill>
                <a:latin typeface="Calibri" pitchFamily="34" charset="0"/>
                <a:ea typeface="Calibri" pitchFamily="34" charset="-122"/>
                <a:cs typeface="Calibri" pitchFamily="34" charset="-120"/>
              </a:rPr>
              <a:t>Member 4  ·  7:40 - 8:15</a:t>
            </a:r>
            <a:endParaRPr lang="en-US" sz="1100" dirty="0"/>
          </a:p>
        </p:txBody>
      </p:sp>
      <p:sp>
        <p:nvSpPr>
          <p:cNvPr id="4" name="Shape 2"/>
          <p:cNvSpPr/>
          <p:nvPr/>
        </p:nvSpPr>
        <p:spPr>
          <a:xfrm>
            <a:off x="548640" y="1691640"/>
            <a:ext cx="3639312" cy="3108960"/>
          </a:xfrm>
          <a:prstGeom prst="roundRect">
            <a:avLst>
              <a:gd name="adj" fmla="val 2353"/>
            </a:avLst>
          </a:prstGeom>
          <a:solidFill>
            <a:srgbClr val="EEF2F6"/>
          </a:solidFill>
          <a:ln w="12700">
            <a:solidFill>
              <a:srgbClr val="EEF2F6"/>
            </a:solidFill>
            <a:prstDash val="solid"/>
          </a:ln>
        </p:spPr>
      </p:sp>
      <p:sp>
        <p:nvSpPr>
          <p:cNvPr id="5" name="Text 3"/>
          <p:cNvSpPr/>
          <p:nvPr/>
        </p:nvSpPr>
        <p:spPr>
          <a:xfrm>
            <a:off x="822960" y="1874520"/>
            <a:ext cx="3090672" cy="41148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What SDG 7 asks</a:t>
            </a:r>
            <a:endParaRPr lang="en-US" sz="1700" dirty="0"/>
          </a:p>
        </p:txBody>
      </p:sp>
      <p:sp>
        <p:nvSpPr>
          <p:cNvPr id="6" name="Text 4"/>
          <p:cNvSpPr/>
          <p:nvPr/>
        </p:nvSpPr>
        <p:spPr>
          <a:xfrm>
            <a:off x="822960" y="2377440"/>
            <a:ext cx="3090672" cy="22860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23303C"/>
                </a:solidFill>
                <a:latin typeface="Calibri" pitchFamily="34" charset="0"/>
                <a:ea typeface="Calibri" pitchFamily="34" charset="-122"/>
                <a:cs typeface="Calibri" pitchFamily="34" charset="-120"/>
              </a:rPr>
              <a:t>Affordable energy</a:t>
            </a:r>
            <a:endParaRPr lang="en-US" sz="1500" dirty="0"/>
          </a:p>
          <a:p>
            <a:pPr marL="342900" indent="-342900">
              <a:spcAft>
                <a:spcPts val="1000"/>
              </a:spcAft>
              <a:buSzPct val="100000"/>
              <a:buChar char="•"/>
            </a:pPr>
            <a:r>
              <a:rPr lang="en-US" sz="1500" dirty="0">
                <a:solidFill>
                  <a:srgbClr val="23303C"/>
                </a:solidFill>
                <a:latin typeface="Calibri" pitchFamily="34" charset="0"/>
                <a:ea typeface="Calibri" pitchFamily="34" charset="-122"/>
                <a:cs typeface="Calibri" pitchFamily="34" charset="-120"/>
              </a:rPr>
              <a:t>Reliable, modern supply</a:t>
            </a:r>
            <a:endParaRPr lang="en-US" sz="1500" dirty="0"/>
          </a:p>
          <a:p>
            <a:pPr marL="342900" indent="-342900">
              <a:spcAft>
                <a:spcPts val="1000"/>
              </a:spcAft>
              <a:buSzPct val="100000"/>
              <a:buChar char="•"/>
            </a:pPr>
            <a:r>
              <a:rPr lang="en-US" sz="1500" dirty="0">
                <a:solidFill>
                  <a:srgbClr val="23303C"/>
                </a:solidFill>
                <a:latin typeface="Calibri" pitchFamily="34" charset="0"/>
                <a:ea typeface="Calibri" pitchFamily="34" charset="-122"/>
                <a:cs typeface="Calibri" pitchFamily="34" charset="-120"/>
              </a:rPr>
              <a:t>A rising share of renewables</a:t>
            </a:r>
            <a:endParaRPr lang="en-US" sz="1500" dirty="0"/>
          </a:p>
        </p:txBody>
      </p:sp>
      <p:sp>
        <p:nvSpPr>
          <p:cNvPr id="7" name="Shape 5"/>
          <p:cNvSpPr/>
          <p:nvPr/>
        </p:nvSpPr>
        <p:spPr>
          <a:xfrm>
            <a:off x="4553712" y="1691640"/>
            <a:ext cx="3639312" cy="3108960"/>
          </a:xfrm>
          <a:prstGeom prst="roundRect">
            <a:avLst>
              <a:gd name="adj" fmla="val 2353"/>
            </a:avLst>
          </a:prstGeom>
          <a:solidFill>
            <a:srgbClr val="EEF2F6"/>
          </a:solidFill>
          <a:ln w="12700">
            <a:solidFill>
              <a:srgbClr val="EEF2F6"/>
            </a:solidFill>
            <a:prstDash val="solid"/>
          </a:ln>
        </p:spPr>
      </p:sp>
      <p:sp>
        <p:nvSpPr>
          <p:cNvPr id="8" name="Text 6"/>
          <p:cNvSpPr/>
          <p:nvPr/>
        </p:nvSpPr>
        <p:spPr>
          <a:xfrm>
            <a:off x="4828032" y="1874520"/>
            <a:ext cx="3090672" cy="411480"/>
          </a:xfrm>
          <a:prstGeom prst="rect">
            <a:avLst/>
          </a:prstGeom>
          <a:noFill/>
          <a:ln/>
        </p:spPr>
        <p:txBody>
          <a:bodyPr wrap="square" lIns="0" tIns="0" rIns="0" bIns="0" rtlCol="0" anchor="ctr"/>
          <a:lstStyle/>
          <a:p>
            <a:pPr indent="0" marL="0">
              <a:buNone/>
            </a:pPr>
            <a:r>
              <a:rPr lang="en-US" sz="1700" b="1" dirty="0">
                <a:solidFill>
                  <a:srgbClr val="1B998B"/>
                </a:solidFill>
                <a:latin typeface="Calibri" pitchFamily="34" charset="0"/>
                <a:ea typeface="Calibri" pitchFamily="34" charset="-122"/>
                <a:cs typeface="Calibri" pitchFamily="34" charset="-120"/>
              </a:rPr>
              <a:t>What GridWise shows</a:t>
            </a:r>
            <a:endParaRPr lang="en-US" sz="1700" dirty="0"/>
          </a:p>
        </p:txBody>
      </p:sp>
      <p:sp>
        <p:nvSpPr>
          <p:cNvPr id="9" name="Text 7"/>
          <p:cNvSpPr/>
          <p:nvPr/>
        </p:nvSpPr>
        <p:spPr>
          <a:xfrm>
            <a:off x="4828032" y="2377440"/>
            <a:ext cx="3090672" cy="22860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23303C"/>
                </a:solidFill>
                <a:latin typeface="Calibri" pitchFamily="34" charset="0"/>
                <a:ea typeface="Calibri" pitchFamily="34" charset="-122"/>
                <a:cs typeface="Calibri" pitchFamily="34" charset="-120"/>
              </a:rPr>
              <a:t>Cost per day, in the user's currency</a:t>
            </a:r>
            <a:endParaRPr lang="en-US" sz="1500" dirty="0"/>
          </a:p>
          <a:p>
            <a:pPr marL="342900" indent="-342900">
              <a:spcAft>
                <a:spcPts val="1000"/>
              </a:spcAft>
              <a:buSzPct val="100000"/>
              <a:buChar char="•"/>
            </a:pPr>
            <a:r>
              <a:rPr lang="en-US" sz="1500" dirty="0">
                <a:solidFill>
                  <a:srgbClr val="23303C"/>
                </a:solidFill>
                <a:latin typeface="Calibri" pitchFamily="34" charset="0"/>
                <a:ea typeface="Calibri" pitchFamily="34" charset="-122"/>
                <a:cs typeface="Calibri" pitchFamily="34" charset="-120"/>
              </a:rPr>
              <a:t>Blackout hours, counted honestly</a:t>
            </a:r>
            <a:endParaRPr lang="en-US" sz="1500" dirty="0"/>
          </a:p>
          <a:p>
            <a:pPr marL="342900" indent="-342900">
              <a:spcAft>
                <a:spcPts val="1000"/>
              </a:spcAft>
              <a:buSzPct val="100000"/>
              <a:buChar char="•"/>
            </a:pPr>
            <a:r>
              <a:rPr lang="en-US" sz="1500" dirty="0">
                <a:solidFill>
                  <a:srgbClr val="23303C"/>
                </a:solidFill>
                <a:latin typeface="Calibri" pitchFamily="34" charset="0"/>
                <a:ea typeface="Calibri" pitchFamily="34" charset="-122"/>
                <a:cs typeface="Calibri" pitchFamily="34" charset="-120"/>
              </a:rPr>
              <a:t>Renewable share of energy actually consumed</a:t>
            </a:r>
            <a:endParaRPr lang="en-US" sz="1500" dirty="0"/>
          </a:p>
        </p:txBody>
      </p:sp>
      <p:sp>
        <p:nvSpPr>
          <p:cNvPr id="10" name="Shape 8"/>
          <p:cNvSpPr/>
          <p:nvPr/>
        </p:nvSpPr>
        <p:spPr>
          <a:xfrm>
            <a:off x="8558784" y="1691640"/>
            <a:ext cx="3639312" cy="3108960"/>
          </a:xfrm>
          <a:prstGeom prst="roundRect">
            <a:avLst>
              <a:gd name="adj" fmla="val 2353"/>
            </a:avLst>
          </a:prstGeom>
          <a:solidFill>
            <a:srgbClr val="EEF2F6"/>
          </a:solidFill>
          <a:ln w="12700">
            <a:solidFill>
              <a:srgbClr val="EEF2F6"/>
            </a:solidFill>
            <a:prstDash val="solid"/>
          </a:ln>
        </p:spPr>
      </p:sp>
      <p:sp>
        <p:nvSpPr>
          <p:cNvPr id="11" name="Text 9"/>
          <p:cNvSpPr/>
          <p:nvPr/>
        </p:nvSpPr>
        <p:spPr>
          <a:xfrm>
            <a:off x="8833104" y="1874520"/>
            <a:ext cx="3090672" cy="411480"/>
          </a:xfrm>
          <a:prstGeom prst="rect">
            <a:avLst/>
          </a:prstGeom>
          <a:noFill/>
          <a:ln/>
        </p:spPr>
        <p:txBody>
          <a:bodyPr wrap="square" lIns="0" tIns="0" rIns="0" bIns="0" rtlCol="0" anchor="ctr"/>
          <a:lstStyle/>
          <a:p>
            <a:pPr indent="0" marL="0">
              <a:buNone/>
            </a:pPr>
            <a:r>
              <a:rPr lang="en-US" sz="1700" b="1" dirty="0">
                <a:solidFill>
                  <a:srgbClr val="F4A300"/>
                </a:solidFill>
                <a:latin typeface="Calibri" pitchFamily="34" charset="0"/>
                <a:ea typeface="Calibri" pitchFamily="34" charset="-122"/>
                <a:cs typeface="Calibri" pitchFamily="34" charset="-120"/>
              </a:rPr>
              <a:t>What the user learns</a:t>
            </a:r>
            <a:endParaRPr lang="en-US" sz="1700" dirty="0"/>
          </a:p>
        </p:txBody>
      </p:sp>
      <p:sp>
        <p:nvSpPr>
          <p:cNvPr id="12" name="Text 10"/>
          <p:cNvSpPr/>
          <p:nvPr/>
        </p:nvSpPr>
        <p:spPr>
          <a:xfrm>
            <a:off x="8833104" y="2377440"/>
            <a:ext cx="3090672" cy="22860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23303C"/>
                </a:solidFill>
                <a:latin typeface="Calibri" pitchFamily="34" charset="0"/>
                <a:ea typeface="Calibri" pitchFamily="34" charset="-122"/>
                <a:cs typeface="Calibri" pitchFamily="34" charset="-120"/>
              </a:rPr>
              <a:t>Gas is the expensive way to stay safe</a:t>
            </a:r>
            <a:endParaRPr lang="en-US" sz="1500" dirty="0"/>
          </a:p>
          <a:p>
            <a:pPr marL="342900" indent="-342900">
              <a:spcAft>
                <a:spcPts val="1000"/>
              </a:spcAft>
              <a:buSzPct val="100000"/>
              <a:buChar char="•"/>
            </a:pPr>
            <a:r>
              <a:rPr lang="en-US" sz="1500" dirty="0">
                <a:solidFill>
                  <a:srgbClr val="23303C"/>
                </a:solidFill>
                <a:latin typeface="Calibri" pitchFamily="34" charset="0"/>
                <a:ea typeface="Calibri" pitchFamily="34" charset="-122"/>
                <a:cs typeface="Calibri" pitchFamily="34" charset="-120"/>
              </a:rPr>
              <a:t>Clean plus dispatchable beats clean alone</a:t>
            </a:r>
            <a:endParaRPr lang="en-US" sz="1500" dirty="0"/>
          </a:p>
          <a:p>
            <a:pPr marL="342900" indent="-342900">
              <a:spcAft>
                <a:spcPts val="1000"/>
              </a:spcAft>
              <a:buSzPct val="100000"/>
              <a:buChar char="•"/>
            </a:pPr>
            <a:r>
              <a:rPr lang="en-US" sz="1500" dirty="0">
                <a:solidFill>
                  <a:srgbClr val="23303C"/>
                </a:solidFill>
                <a:latin typeface="Calibri" pitchFamily="34" charset="0"/>
                <a:ea typeface="Calibri" pitchFamily="34" charset="-122"/>
                <a:cs typeface="Calibri" pitchFamily="34" charset="-120"/>
              </a:rPr>
              <a:t>Storage or hydro is what unlocks solar</a:t>
            </a:r>
            <a:endParaRPr lang="en-US" sz="1500" dirty="0"/>
          </a:p>
        </p:txBody>
      </p:sp>
      <p:sp>
        <p:nvSpPr>
          <p:cNvPr id="13" name="Text 11"/>
          <p:cNvSpPr/>
          <p:nvPr/>
        </p:nvSpPr>
        <p:spPr>
          <a:xfrm>
            <a:off x="548640" y="5074920"/>
            <a:ext cx="11094415" cy="411480"/>
          </a:xfrm>
          <a:prstGeom prst="rect">
            <a:avLst/>
          </a:prstGeom>
          <a:noFill/>
          <a:ln/>
        </p:spPr>
        <p:txBody>
          <a:bodyPr wrap="square" lIns="0" tIns="0" rIns="0" bIns="0" rtlCol="0" anchor="ctr"/>
          <a:lstStyle/>
          <a:p>
            <a:pPr indent="0" marL="0">
              <a:buNone/>
            </a:pPr>
            <a:r>
              <a:rPr lang="en-US" sz="1800" b="1" dirty="0">
                <a:solidFill>
                  <a:srgbClr val="0B2545"/>
                </a:solidFill>
                <a:latin typeface="Calibri" pitchFamily="34" charset="0"/>
                <a:ea typeface="Calibri" pitchFamily="34" charset="-122"/>
                <a:cs typeface="Calibri" pitchFamily="34" charset="-120"/>
              </a:rPr>
              <a:t>A student can test an energy policy in ten seconds, for free, before anyone pours concrete.</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2545"/>
        </a:solidFill>
      </p:bgPr>
    </p:bg>
    <p:spTree>
      <p:nvGrpSpPr>
        <p:cNvPr id="1" name=""/>
        <p:cNvGrpSpPr/>
        <p:nvPr/>
      </p:nvGrpSpPr>
      <p:grpSpPr>
        <a:xfrm>
          <a:off x="0" y="0"/>
          <a:ext cx="0" cy="0"/>
          <a:chOff x="0" y="0"/>
          <a:chExt cx="0" cy="0"/>
        </a:xfrm>
      </p:grpSpPr>
      <p:sp>
        <p:nvSpPr>
          <p:cNvPr id="2" name="Text 0"/>
          <p:cNvSpPr/>
          <p:nvPr/>
        </p:nvSpPr>
        <p:spPr>
          <a:xfrm>
            <a:off x="548640" y="502920"/>
            <a:ext cx="11094415" cy="64008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What we are taking away from GridWise</a:t>
            </a:r>
            <a:endParaRPr lang="en-US" sz="3000" dirty="0"/>
          </a:p>
        </p:txBody>
      </p:sp>
      <p:sp>
        <p:nvSpPr>
          <p:cNvPr id="3" name="Text 1"/>
          <p:cNvSpPr/>
          <p:nvPr/>
        </p:nvSpPr>
        <p:spPr>
          <a:xfrm>
            <a:off x="548640" y="1463040"/>
            <a:ext cx="5394960" cy="365760"/>
          </a:xfrm>
          <a:prstGeom prst="rect">
            <a:avLst/>
          </a:prstGeom>
          <a:noFill/>
          <a:ln/>
        </p:spPr>
        <p:txBody>
          <a:bodyPr wrap="square" lIns="0" tIns="0" rIns="0" bIns="0" rtlCol="0" anchor="ctr"/>
          <a:lstStyle/>
          <a:p>
            <a:pPr indent="0" marL="0">
              <a:buNone/>
            </a:pPr>
            <a:r>
              <a:rPr lang="en-US" sz="1700" b="1" dirty="0">
                <a:solidFill>
                  <a:srgbClr val="F4A300"/>
                </a:solidFill>
                <a:latin typeface="Calibri" pitchFamily="34" charset="0"/>
                <a:ea typeface="Calibri" pitchFamily="34" charset="-122"/>
                <a:cs typeface="Calibri" pitchFamily="34" charset="-120"/>
              </a:rPr>
              <a:t>It works</a:t>
            </a:r>
            <a:endParaRPr lang="en-US" sz="1700" dirty="0"/>
          </a:p>
        </p:txBody>
      </p:sp>
      <p:sp>
        <p:nvSpPr>
          <p:cNvPr id="4" name="Text 2"/>
          <p:cNvSpPr/>
          <p:nvPr/>
        </p:nvSpPr>
        <p:spPr>
          <a:xfrm>
            <a:off x="548640" y="1874520"/>
            <a:ext cx="5394960" cy="21945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DCE6EF"/>
                </a:solidFill>
                <a:latin typeface="Calibri" pitchFamily="34" charset="0"/>
                <a:ea typeface="Calibri" pitchFamily="34" charset="-122"/>
                <a:cs typeface="Calibri" pitchFamily="34" charset="-120"/>
              </a:rPr>
              <a:t>23 classes, four packages, compiles clean on JDK 21.</a:t>
            </a:r>
            <a:endParaRPr lang="en-US" sz="1600" dirty="0"/>
          </a:p>
          <a:p>
            <a:pPr marL="342900" indent="-342900">
              <a:spcAft>
                <a:spcPts val="1000"/>
              </a:spcAft>
              <a:buSzPct val="100000"/>
              <a:buChar char="•"/>
            </a:pPr>
            <a:r>
              <a:rPr lang="en-US" sz="1600" dirty="0">
                <a:solidFill>
                  <a:srgbClr val="DCE6EF"/>
                </a:solidFill>
                <a:latin typeface="Calibri" pitchFamily="34" charset="0"/>
                <a:ea typeface="Calibri" pitchFamily="34" charset="-122"/>
                <a:cs typeface="Calibri" pitchFamily="34" charset="-120"/>
              </a:rPr>
              <a:t>Renewables-first dispatch over a 24-hour demand curve.</a:t>
            </a:r>
            <a:endParaRPr lang="en-US" sz="1600" dirty="0"/>
          </a:p>
          <a:p>
            <a:pPr marL="342900" indent="-342900">
              <a:spcAft>
                <a:spcPts val="1000"/>
              </a:spcAft>
              <a:buSzPct val="100000"/>
              <a:buChar char="•"/>
            </a:pPr>
            <a:r>
              <a:rPr lang="en-US" sz="1600" dirty="0">
                <a:solidFill>
                  <a:srgbClr val="DCE6EF"/>
                </a:solidFill>
                <a:latin typeface="Calibri" pitchFamily="34" charset="0"/>
                <a:ea typeface="Calibri" pitchFamily="34" charset="-122"/>
                <a:cs typeface="Calibri" pitchFamily="34" charset="-120"/>
              </a:rPr>
              <a:t>Cost, CO₂, renewable share, blackout risk and written advice.</a:t>
            </a:r>
            <a:endParaRPr lang="en-US" sz="1600" dirty="0"/>
          </a:p>
          <a:p>
            <a:pPr marL="342900" indent="-342900">
              <a:spcAft>
                <a:spcPts val="1000"/>
              </a:spcAft>
              <a:buSzPct val="100000"/>
              <a:buChar char="•"/>
            </a:pPr>
            <a:r>
              <a:rPr lang="en-US" sz="1600" dirty="0">
                <a:solidFill>
                  <a:srgbClr val="DCE6EF"/>
                </a:solidFill>
                <a:latin typeface="Calibri" pitchFamily="34" charset="0"/>
                <a:ea typeface="Calibri" pitchFamily="34" charset="-122"/>
                <a:cs typeface="Calibri" pitchFamily="34" charset="-120"/>
              </a:rPr>
              <a:t>CSV persistence, report export, nine currencies, light and dark mode.</a:t>
            </a:r>
            <a:endParaRPr lang="en-US" sz="1600" dirty="0"/>
          </a:p>
        </p:txBody>
      </p:sp>
      <p:sp>
        <p:nvSpPr>
          <p:cNvPr id="5" name="Text 3"/>
          <p:cNvSpPr/>
          <p:nvPr/>
        </p:nvSpPr>
        <p:spPr>
          <a:xfrm>
            <a:off x="6309360" y="1463040"/>
            <a:ext cx="5349240" cy="365760"/>
          </a:xfrm>
          <a:prstGeom prst="rect">
            <a:avLst/>
          </a:prstGeom>
          <a:noFill/>
          <a:ln/>
        </p:spPr>
        <p:txBody>
          <a:bodyPr wrap="square" lIns="0" tIns="0" rIns="0" bIns="0" rtlCol="0" anchor="ctr"/>
          <a:lstStyle/>
          <a:p>
            <a:pPr indent="0" marL="0">
              <a:buNone/>
            </a:pPr>
            <a:r>
              <a:rPr lang="en-US" sz="1700" b="1" dirty="0">
                <a:solidFill>
                  <a:srgbClr val="F4A300"/>
                </a:solidFill>
                <a:latin typeface="Calibri" pitchFamily="34" charset="0"/>
                <a:ea typeface="Calibri" pitchFamily="34" charset="-122"/>
                <a:cs typeface="Calibri" pitchFamily="34" charset="-120"/>
              </a:rPr>
              <a:t>What we would build next</a:t>
            </a:r>
            <a:endParaRPr lang="en-US" sz="1700" dirty="0"/>
          </a:p>
        </p:txBody>
      </p:sp>
      <p:sp>
        <p:nvSpPr>
          <p:cNvPr id="6" name="Text 4"/>
          <p:cNvSpPr/>
          <p:nvPr/>
        </p:nvSpPr>
        <p:spPr>
          <a:xfrm>
            <a:off x="6309360" y="1874520"/>
            <a:ext cx="5349240" cy="21945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DCE6EF"/>
                </a:solidFill>
                <a:latin typeface="Calibri" pitchFamily="34" charset="0"/>
                <a:ea typeface="Calibri" pitchFamily="34" charset="-122"/>
                <a:cs typeface="Calibri" pitchFamily="34" charset="-120"/>
              </a:rPr>
              <a:t>Battery storage - the missing piece for the evening peak.</a:t>
            </a:r>
            <a:endParaRPr lang="en-US" sz="1600" dirty="0"/>
          </a:p>
          <a:p>
            <a:pPr marL="342900" indent="-342900">
              <a:spcAft>
                <a:spcPts val="1000"/>
              </a:spcAft>
              <a:buSzPct val="100000"/>
              <a:buChar char="•"/>
            </a:pPr>
            <a:r>
              <a:rPr lang="en-US" sz="1600" dirty="0">
                <a:solidFill>
                  <a:srgbClr val="DCE6EF"/>
                </a:solidFill>
                <a:latin typeface="Calibri" pitchFamily="34" charset="0"/>
                <a:ea typeface="Calibri" pitchFamily="34" charset="-122"/>
                <a:cs typeface="Calibri" pitchFamily="34" charset="-120"/>
              </a:rPr>
              <a:t>Real weather data instead of a random wind factor.</a:t>
            </a:r>
            <a:endParaRPr lang="en-US" sz="1600" dirty="0"/>
          </a:p>
          <a:p>
            <a:pPr marL="342900" indent="-342900">
              <a:spcAft>
                <a:spcPts val="1000"/>
              </a:spcAft>
              <a:buSzPct val="100000"/>
              <a:buChar char="•"/>
            </a:pPr>
            <a:r>
              <a:rPr lang="en-US" sz="1600" dirty="0">
                <a:solidFill>
                  <a:srgbClr val="DCE6EF"/>
                </a:solidFill>
                <a:latin typeface="Calibri" pitchFamily="34" charset="0"/>
                <a:ea typeface="Calibri" pitchFamily="34" charset="-122"/>
                <a:cs typeface="Calibri" pitchFamily="34" charset="-120"/>
              </a:rPr>
              <a:t>A full year rather than a single representative day.</a:t>
            </a:r>
            <a:endParaRPr lang="en-US" sz="1600" dirty="0"/>
          </a:p>
          <a:p>
            <a:pPr marL="342900" indent="-342900">
              <a:spcAft>
                <a:spcPts val="1000"/>
              </a:spcAft>
              <a:buSzPct val="100000"/>
              <a:buChar char="•"/>
            </a:pPr>
            <a:r>
              <a:rPr lang="en-US" sz="1600" dirty="0">
                <a:solidFill>
                  <a:srgbClr val="DCE6EF"/>
                </a:solidFill>
                <a:latin typeface="Calibri" pitchFamily="34" charset="0"/>
                <a:ea typeface="Calibri" pitchFamily="34" charset="-122"/>
                <a:cs typeface="Calibri" pitchFamily="34" charset="-120"/>
              </a:rPr>
              <a:t>Automated tests over the dispatch logic.</a:t>
            </a:r>
            <a:endParaRPr lang="en-US" sz="1600" dirty="0"/>
          </a:p>
        </p:txBody>
      </p:sp>
      <p:sp>
        <p:nvSpPr>
          <p:cNvPr id="7" name="Text 5"/>
          <p:cNvSpPr/>
          <p:nvPr/>
        </p:nvSpPr>
        <p:spPr>
          <a:xfrm>
            <a:off x="548640" y="4434840"/>
            <a:ext cx="11094415" cy="822960"/>
          </a:xfrm>
          <a:prstGeom prst="rect">
            <a:avLst/>
          </a:prstGeom>
          <a:noFill/>
          <a:ln/>
        </p:spPr>
        <p:txBody>
          <a:bodyPr wrap="square" lIns="0" tIns="0" rIns="0" bIns="0" rtlCol="0" anchor="ctr"/>
          <a:lstStyle/>
          <a:p>
            <a:pPr indent="0" marL="0">
              <a:lnSpc>
                <a:spcPts val="2400"/>
              </a:lnSpc>
              <a:buNone/>
            </a:pPr>
            <a:r>
              <a:rPr lang="en-US" sz="1700" dirty="0">
                <a:solidFill>
                  <a:srgbClr val="FFFFFF"/>
                </a:solidFill>
                <a:latin typeface="Calibri" pitchFamily="34" charset="0"/>
                <a:ea typeface="Calibri" pitchFamily="34" charset="-122"/>
                <a:cs typeface="Calibri" pitchFamily="34" charset="-120"/>
              </a:rPr>
              <a:t>The biggest lesson: the abstraction earned its keep. Every source answers the same five questions, which is why HydroPlant is only 40 lines. The dispatch loop still names some types by string - that is the first thing we would refactor.</a:t>
            </a:r>
            <a:endParaRPr lang="en-US" sz="1700" dirty="0"/>
          </a:p>
        </p:txBody>
      </p:sp>
      <p:sp>
        <p:nvSpPr>
          <p:cNvPr id="8" name="Text 6"/>
          <p:cNvSpPr/>
          <p:nvPr/>
        </p:nvSpPr>
        <p:spPr>
          <a:xfrm>
            <a:off x="548640" y="5669280"/>
            <a:ext cx="6858000" cy="365760"/>
          </a:xfrm>
          <a:prstGeom prst="rect">
            <a:avLst/>
          </a:prstGeom>
          <a:noFill/>
          <a:ln/>
        </p:spPr>
        <p:txBody>
          <a:bodyPr wrap="square" lIns="0" tIns="0" rIns="0" bIns="0" rtlCol="0" anchor="ctr"/>
          <a:lstStyle/>
          <a:p>
            <a:pPr indent="0" marL="0">
              <a:buNone/>
            </a:pPr>
            <a:r>
              <a:rPr lang="en-US" sz="1600" b="1" dirty="0">
                <a:solidFill>
                  <a:srgbClr val="F4A300"/>
                </a:solidFill>
                <a:latin typeface="Calibri" pitchFamily="34" charset="0"/>
                <a:ea typeface="Calibri" pitchFamily="34" charset="-122"/>
                <a:cs typeface="Calibri" pitchFamily="34" charset="-120"/>
              </a:rPr>
              <a:t>Questions - all four of us are happy to take them.</a:t>
            </a:r>
            <a:endParaRPr lang="en-US" sz="1600" dirty="0"/>
          </a:p>
        </p:txBody>
      </p:sp>
      <p:sp>
        <p:nvSpPr>
          <p:cNvPr id="9" name="Text 7"/>
          <p:cNvSpPr/>
          <p:nvPr/>
        </p:nvSpPr>
        <p:spPr>
          <a:xfrm>
            <a:off x="6309360" y="5669280"/>
            <a:ext cx="5349240" cy="365760"/>
          </a:xfrm>
          <a:prstGeom prst="rect">
            <a:avLst/>
          </a:prstGeom>
          <a:noFill/>
          <a:ln/>
        </p:spPr>
        <p:txBody>
          <a:bodyPr wrap="square" lIns="0" tIns="0" rIns="0" bIns="0" rtlCol="0" anchor="ctr"/>
          <a:lstStyle/>
          <a:p>
            <a:pPr algn="r" indent="0" marL="0">
              <a:buNone/>
            </a:pPr>
            <a:r>
              <a:rPr lang="en-US" sz="1300" dirty="0">
                <a:solidFill>
                  <a:srgbClr val="8FA3B5"/>
                </a:solidFill>
                <a:latin typeface="Calibri" pitchFamily="34" charset="0"/>
                <a:ea typeface="Calibri" pitchFamily="34" charset="-122"/>
                <a:cs typeface="Calibri" pitchFamily="34" charset="-120"/>
              </a:rPr>
              <a:t>github.com/ksdsass/bit1123-final-project-gridwise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8808415" cy="822960"/>
          </a:xfrm>
          <a:prstGeom prst="rect">
            <a:avLst/>
          </a:prstGeom>
          <a:noFill/>
          <a:ln/>
        </p:spPr>
        <p:txBody>
          <a:bodyPr wrap="square" lIns="0" tIns="0" rIns="0" bIns="0" rtlCol="0" anchor="t"/>
          <a:lstStyle/>
          <a:p>
            <a:pPr algn="l" indent="0" marL="0">
              <a:buNone/>
            </a:pPr>
            <a:r>
              <a:rPr lang="en-US" sz="2600" b="1" dirty="0">
                <a:solidFill>
                  <a:srgbClr val="0B2545"/>
                </a:solidFill>
                <a:latin typeface="Calibri" pitchFamily="34" charset="0"/>
                <a:ea typeface="Calibri" pitchFamily="34" charset="-122"/>
                <a:cs typeface="Calibri" pitchFamily="34" charset="-120"/>
              </a:rPr>
              <a:t>Appendix: sources and honest limitations</a:t>
            </a:r>
            <a:endParaRPr lang="en-US" sz="2600" dirty="0"/>
          </a:p>
        </p:txBody>
      </p:sp>
      <p:sp>
        <p:nvSpPr>
          <p:cNvPr id="3" name="Text 1"/>
          <p:cNvSpPr/>
          <p:nvPr/>
        </p:nvSpPr>
        <p:spPr>
          <a:xfrm>
            <a:off x="9448495" y="384048"/>
            <a:ext cx="2194560" cy="274320"/>
          </a:xfrm>
          <a:prstGeom prst="rect">
            <a:avLst/>
          </a:prstGeom>
          <a:noFill/>
          <a:ln/>
        </p:spPr>
        <p:txBody>
          <a:bodyPr wrap="square" lIns="0" tIns="0" rIns="0" bIns="0" rtlCol="0" anchor="ctr"/>
          <a:lstStyle/>
          <a:p>
            <a:pPr algn="r" indent="0" marL="0">
              <a:buNone/>
            </a:pPr>
            <a:r>
              <a:rPr lang="en-US" sz="1100" dirty="0">
                <a:solidFill>
                  <a:srgbClr val="5A6B7C"/>
                </a:solidFill>
                <a:latin typeface="Calibri" pitchFamily="34" charset="0"/>
                <a:ea typeface="Calibri" pitchFamily="34" charset="-122"/>
                <a:cs typeface="Calibri" pitchFamily="34" charset="-120"/>
              </a:rPr>
              <a:t>Member 4  ·  Q&amp;A backup</a:t>
            </a:r>
            <a:endParaRPr lang="en-US" sz="1100" dirty="0"/>
          </a:p>
        </p:txBody>
      </p:sp>
      <p:sp>
        <p:nvSpPr>
          <p:cNvPr id="4" name="Text 2"/>
          <p:cNvSpPr/>
          <p:nvPr/>
        </p:nvSpPr>
        <p:spPr>
          <a:xfrm>
            <a:off x="548640" y="1554480"/>
            <a:ext cx="5486400" cy="320040"/>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References</a:t>
            </a:r>
            <a:endParaRPr lang="en-US" sz="1600" dirty="0"/>
          </a:p>
        </p:txBody>
      </p:sp>
      <p:sp>
        <p:nvSpPr>
          <p:cNvPr id="5" name="Text 3"/>
          <p:cNvSpPr/>
          <p:nvPr/>
        </p:nvSpPr>
        <p:spPr>
          <a:xfrm>
            <a:off x="548640" y="1920240"/>
            <a:ext cx="11094415" cy="12801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23303C"/>
                </a:solidFill>
                <a:latin typeface="Calibri" pitchFamily="34" charset="0"/>
                <a:ea typeface="Calibri" pitchFamily="34" charset="-122"/>
                <a:cs typeface="Calibri" pitchFamily="34" charset="-120"/>
              </a:rPr>
              <a:t>United Nations, Sustainable Development Goal 7: Affordable and Clean Energy. sdgs.un.org/goals/goal7</a:t>
            </a:r>
            <a:endParaRPr lang="en-US" sz="1400" dirty="0"/>
          </a:p>
          <a:p>
            <a:pPr marL="342900" indent="-342900">
              <a:spcAft>
                <a:spcPts val="800"/>
              </a:spcAft>
              <a:buSzPct val="100000"/>
              <a:buChar char="•"/>
            </a:pPr>
            <a:r>
              <a:rPr lang="en-US" sz="1400" dirty="0">
                <a:solidFill>
                  <a:srgbClr val="23303C"/>
                </a:solidFill>
                <a:latin typeface="Calibri" pitchFamily="34" charset="0"/>
                <a:ea typeface="Calibri" pitchFamily="34" charset="-122"/>
                <a:cs typeface="Calibri" pitchFamily="34" charset="-120"/>
              </a:rPr>
              <a:t>Oracle, Java Platform SE 21 API documentation (Swing, Java 2D, Collections, java.io).</a:t>
            </a:r>
            <a:endParaRPr lang="en-US" sz="1400" dirty="0"/>
          </a:p>
          <a:p>
            <a:pPr marL="342900" indent="-342900">
              <a:spcAft>
                <a:spcPts val="800"/>
              </a:spcAft>
              <a:buSzPct val="100000"/>
              <a:buChar char="•"/>
            </a:pPr>
            <a:r>
              <a:rPr lang="en-US" sz="1400" dirty="0">
                <a:solidFill>
                  <a:srgbClr val="23303C"/>
                </a:solidFill>
                <a:latin typeface="Calibri" pitchFamily="34" charset="0"/>
                <a:ea typeface="Calibri" pitchFamily="34" charset="-122"/>
                <a:cs typeface="Calibri" pitchFamily="34" charset="-120"/>
              </a:rPr>
              <a:t>Project source code: github.com/ksdsass/bit1123-final-project-gridwise</a:t>
            </a:r>
            <a:endParaRPr lang="en-US" sz="1400" dirty="0"/>
          </a:p>
        </p:txBody>
      </p:sp>
      <p:sp>
        <p:nvSpPr>
          <p:cNvPr id="6" name="Text 4"/>
          <p:cNvSpPr/>
          <p:nvPr/>
        </p:nvSpPr>
        <p:spPr>
          <a:xfrm>
            <a:off x="548640" y="3291840"/>
            <a:ext cx="7315200" cy="320040"/>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Limitations we will state before we are asked</a:t>
            </a:r>
            <a:endParaRPr lang="en-US" sz="1600" dirty="0"/>
          </a:p>
        </p:txBody>
      </p:sp>
      <p:sp>
        <p:nvSpPr>
          <p:cNvPr id="7" name="Text 5"/>
          <p:cNvSpPr/>
          <p:nvPr/>
        </p:nvSpPr>
        <p:spPr>
          <a:xfrm>
            <a:off x="548640" y="3657600"/>
            <a:ext cx="11094415" cy="22860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23303C"/>
                </a:solidFill>
                <a:latin typeface="Calibri" pitchFamily="34" charset="0"/>
                <a:ea typeface="Calibri" pitchFamily="34" charset="-122"/>
                <a:cs typeface="Calibri" pitchFamily="34" charset="-120"/>
              </a:rPr>
              <a:t>The six example grids are inspired by real energy mixes but the megawatt figures are simplified and scaled to city size - they are illustrative, not measured data.</a:t>
            </a:r>
            <a:endParaRPr lang="en-US" sz="1400" dirty="0"/>
          </a:p>
          <a:p>
            <a:pPr marL="342900" indent="-342900">
              <a:spcAft>
                <a:spcPts val="800"/>
              </a:spcAft>
              <a:buSzPct val="100000"/>
              <a:buChar char="•"/>
            </a:pPr>
            <a:r>
              <a:rPr lang="en-US" sz="1400" dirty="0">
                <a:solidFill>
                  <a:srgbClr val="23303C"/>
                </a:solidFill>
                <a:latin typeface="Calibri" pitchFamily="34" charset="0"/>
                <a:ea typeface="Calibri" pitchFamily="34" charset="-122"/>
                <a:cs typeface="Calibri" pitchFamily="34" charset="-120"/>
              </a:rPr>
              <a:t>Costs and emission factors are fixed representative values in ringgit per MWh, not published tariffs.</a:t>
            </a:r>
            <a:endParaRPr lang="en-US" sz="1400" dirty="0"/>
          </a:p>
          <a:p>
            <a:pPr marL="342900" indent="-342900">
              <a:spcAft>
                <a:spcPts val="800"/>
              </a:spcAft>
              <a:buSzPct val="100000"/>
              <a:buChar char="•"/>
            </a:pPr>
            <a:r>
              <a:rPr lang="en-US" sz="1400" dirty="0">
                <a:solidFill>
                  <a:srgbClr val="23303C"/>
                </a:solidFill>
                <a:latin typeface="Calibri" pitchFamily="34" charset="0"/>
                <a:ea typeface="Calibri" pitchFamily="34" charset="-122"/>
                <a:cs typeface="Calibri" pitchFamily="34" charset="-120"/>
              </a:rPr>
              <a:t>Currency rates are fixed constants; the application is fully offline and calls no exchange-rate service.</a:t>
            </a:r>
            <a:endParaRPr lang="en-US" sz="1400" dirty="0"/>
          </a:p>
          <a:p>
            <a:pPr marL="342900" indent="-342900">
              <a:spcAft>
                <a:spcPts val="800"/>
              </a:spcAft>
              <a:buSzPct val="100000"/>
              <a:buChar char="•"/>
            </a:pPr>
            <a:r>
              <a:rPr lang="en-US" sz="1400" dirty="0">
                <a:solidFill>
                  <a:srgbClr val="23303C"/>
                </a:solidFill>
                <a:latin typeface="Calibri" pitchFamily="34" charset="0"/>
                <a:ea typeface="Calibri" pitchFamily="34" charset="-122"/>
                <a:cs typeface="Calibri" pitchFamily="34" charset="-120"/>
              </a:rPr>
              <a:t>Wind is a random factor between 0.25 and 0.75 of capacity, not a weather forecast, and the model has no storage and no transmission losses.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GridWise - City Energy Grid Simulator</dc:title>
  <dc:subject>PptxGenJS Presentation</dc:subject>
  <dc:creator>GridWise Group</dc:creator>
  <cp:lastModifiedBy>GridWise Group</cp:lastModifiedBy>
  <cp:revision>1</cp:revision>
  <dcterms:created xsi:type="dcterms:W3CDTF">2026-08-20T23:46:49Z</dcterms:created>
  <dcterms:modified xsi:type="dcterms:W3CDTF">2026-08-20T23:46:49Z</dcterms:modified>
</cp:coreProperties>
</file>